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6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8" r:id="rId22"/>
    <p:sldId id="265" r:id="rId23"/>
    <p:sldId id="266" r:id="rId24"/>
    <p:sldId id="267" r:id="rId25"/>
    <p:sldId id="269" r:id="rId26"/>
    <p:sldId id="270" r:id="rId27"/>
    <p:sldId id="271" r:id="rId28"/>
    <p:sldId id="286" r:id="rId29"/>
    <p:sldId id="287" r:id="rId30"/>
    <p:sldId id="284" r:id="rId31"/>
    <p:sldId id="285" r:id="rId32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660" autoAdjust="0"/>
    <p:restoredTop sz="94660"/>
  </p:normalViewPr>
  <p:slideViewPr>
    <p:cSldViewPr>
      <p:cViewPr varScale="1">
        <p:scale>
          <a:sx n="79" d="100"/>
          <a:sy n="79" d="100"/>
        </p:scale>
        <p:origin x="1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Čuvar mesta za datum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0DEDD-3EBB-4972-8671-9EB3D25B4874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4" name="Čuvar mesta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Čuvar mesta za napomen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/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0A176-C5F6-4CCC-8962-CF41E53D6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7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0A176-C5F6-4CCC-8962-CF41E53D63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59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0A176-C5F6-4CCC-8962-CF41E53D63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72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0A176-C5F6-4CCC-8962-CF41E53D631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6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 slaj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r-Latn-RS"/>
              <a:t>Kliknite da biste uredili stil podnaslova mastera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2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9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od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r-Latn-RS"/>
              <a:t>Kliknite da biste uredili stilove teksta mastera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7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6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eđe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r-Latn-RS"/>
              <a:t>Kliknite da biste uredili stilove teksta mastera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r-Latn-RS"/>
              <a:t>Kliknite da biste uredili stilove teksta mastera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Sadržaj sa nat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r-Latn-RS"/>
              <a:t>Kliknite da biste uredili stilove teksta mastera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1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sa nat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r-Latn-RS"/>
              <a:t>Kliknite na ikonu da dodate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r-Latn-RS"/>
              <a:t>Kliknite da biste uredili stilove teksta mastera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3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Naslov i vertikaln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n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08-Sep-24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52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19444" y="1848611"/>
            <a:ext cx="5120640" cy="4462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08-Sep-24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75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30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r-Latn-RS"/>
              <a:t>Kliknite i uredite naslov mastera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5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ithub.com/MastilovicRadoslav/Razvoj_CLOUD_aplikacija_UPM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  <a:effectLst>
            <a:glow rad="38100">
              <a:schemeClr val="tx1">
                <a:alpha val="70000"/>
              </a:schemeClr>
            </a:glo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0" y="703529"/>
            <a:ext cx="12192000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815" algn="ctr">
              <a:lnSpc>
                <a:spcPct val="100000"/>
              </a:lnSpc>
              <a:spcBef>
                <a:spcPts val="110"/>
              </a:spcBef>
            </a:pPr>
            <a:r>
              <a:rPr sz="2800" spc="-10" dirty="0">
                <a:solidFill>
                  <a:srgbClr val="000000"/>
                </a:solidFill>
              </a:rPr>
              <a:t>Univerzitet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u</a:t>
            </a:r>
            <a:r>
              <a:rPr sz="2800" spc="-2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Novom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spc="-20" dirty="0">
                <a:solidFill>
                  <a:srgbClr val="000000"/>
                </a:solidFill>
              </a:rPr>
              <a:t>Sadu</a:t>
            </a:r>
            <a:endParaRPr sz="2800" dirty="0"/>
          </a:p>
          <a:p>
            <a:pPr marL="217170" algn="ctr">
              <a:lnSpc>
                <a:spcPct val="100000"/>
              </a:lnSpc>
            </a:pPr>
            <a:r>
              <a:rPr sz="2800" b="1" spc="-10" dirty="0">
                <a:solidFill>
                  <a:srgbClr val="000000"/>
                </a:solidFill>
              </a:rPr>
              <a:t>Fakultet</a:t>
            </a:r>
            <a:r>
              <a:rPr sz="2800" b="1" spc="-75" dirty="0">
                <a:solidFill>
                  <a:srgbClr val="000000"/>
                </a:solidFill>
              </a:rPr>
              <a:t> </a:t>
            </a:r>
            <a:r>
              <a:rPr sz="2800" b="1" dirty="0">
                <a:solidFill>
                  <a:srgbClr val="000000"/>
                </a:solidFill>
              </a:rPr>
              <a:t>tehničkih</a:t>
            </a:r>
            <a:r>
              <a:rPr sz="2800" b="1" spc="-65" dirty="0">
                <a:solidFill>
                  <a:srgbClr val="000000"/>
                </a:solidFill>
              </a:rPr>
              <a:t> </a:t>
            </a:r>
            <a:r>
              <a:rPr sz="2800" b="1" dirty="0">
                <a:solidFill>
                  <a:srgbClr val="000000"/>
                </a:solidFill>
              </a:rPr>
              <a:t>nauka</a:t>
            </a:r>
            <a:r>
              <a:rPr sz="2800" b="1" spc="-35" dirty="0">
                <a:solidFill>
                  <a:srgbClr val="000000"/>
                </a:solidFill>
              </a:rPr>
              <a:t> </a:t>
            </a:r>
            <a:r>
              <a:rPr sz="2800" b="1" dirty="0">
                <a:solidFill>
                  <a:srgbClr val="000000"/>
                </a:solidFill>
              </a:rPr>
              <a:t>u</a:t>
            </a:r>
            <a:r>
              <a:rPr sz="2800" b="1" spc="-60" dirty="0">
                <a:solidFill>
                  <a:srgbClr val="000000"/>
                </a:solidFill>
              </a:rPr>
              <a:t> </a:t>
            </a:r>
            <a:r>
              <a:rPr sz="2800" b="1" dirty="0">
                <a:solidFill>
                  <a:srgbClr val="000000"/>
                </a:solidFill>
              </a:rPr>
              <a:t>Novom</a:t>
            </a:r>
            <a:r>
              <a:rPr sz="2800" b="1" spc="-100" dirty="0">
                <a:solidFill>
                  <a:srgbClr val="000000"/>
                </a:solidFill>
              </a:rPr>
              <a:t> </a:t>
            </a:r>
            <a:r>
              <a:rPr sz="2800" b="1" spc="-20" dirty="0">
                <a:solidFill>
                  <a:srgbClr val="000000"/>
                </a:solidFill>
              </a:rPr>
              <a:t>Sadu</a:t>
            </a:r>
            <a:endParaRPr sz="2800" b="1" dirty="0"/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914400" y="1834133"/>
            <a:ext cx="10287000" cy="2136880"/>
          </a:xfrm>
          <a:prstGeom prst="rect">
            <a:avLst/>
          </a:prstGeom>
        </p:spPr>
        <p:txBody>
          <a:bodyPr vert="horz" wrap="square" lIns="0" tIns="311988" rIns="0" bIns="0" rtlCol="0">
            <a:spAutoFit/>
          </a:bodyPr>
          <a:lstStyle/>
          <a:p>
            <a:pPr marL="0" marR="0" indent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5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IMPLEMENTACIJA CLOUD TEHNOLOGIJA ZA RAZVOJ APLIKACIJE ZA UPRAVLJANJE FORUMSKIM TEMAMA I KOMENTARIMA NA PRIMERU REDDITA</a:t>
            </a:r>
            <a:endParaRPr lang="en-US" sz="3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399" y="5649874"/>
            <a:ext cx="491083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arlito"/>
                <a:cs typeface="Carlito"/>
              </a:rPr>
              <a:t>Mentor:</a:t>
            </a:r>
            <a:r>
              <a:rPr sz="2800" spc="-100" dirty="0">
                <a:latin typeface="Carlito"/>
                <a:cs typeface="Carlito"/>
              </a:rPr>
              <a:t> </a:t>
            </a:r>
            <a:r>
              <a:rPr lang="en-US" sz="2800" spc="-100" dirty="0">
                <a:latin typeface="Carlito"/>
                <a:cs typeface="Carlito"/>
              </a:rPr>
              <a:t>Prof. Dr. </a:t>
            </a:r>
            <a:r>
              <a:rPr lang="en-US" sz="2800" spc="-100" dirty="0" err="1">
                <a:latin typeface="Carlito"/>
                <a:cs typeface="Carlito"/>
              </a:rPr>
              <a:t>Srdjan</a:t>
            </a:r>
            <a:r>
              <a:rPr lang="en-US" sz="2800" spc="-100" dirty="0">
                <a:latin typeface="Carlito"/>
                <a:cs typeface="Carlito"/>
              </a:rPr>
              <a:t> </a:t>
            </a:r>
            <a:r>
              <a:rPr lang="en-US" sz="2800" spc="-100" dirty="0" err="1">
                <a:latin typeface="Carlito"/>
                <a:cs typeface="Carlito"/>
              </a:rPr>
              <a:t>Vukmirovi</a:t>
            </a:r>
            <a:r>
              <a:rPr lang="sr-Latn-RS" sz="2800" spc="-100" dirty="0">
                <a:latin typeface="Carlito"/>
                <a:cs typeface="Carlito"/>
              </a:rPr>
              <a:t>ć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8763" y="5649874"/>
            <a:ext cx="491083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sr-Latn-RS" sz="2800" spc="-50" dirty="0">
                <a:latin typeface="Carlito"/>
                <a:cs typeface="Carlito"/>
              </a:rPr>
              <a:t>Radoslav </a:t>
            </a:r>
            <a:r>
              <a:rPr lang="sr-Latn-RS" sz="2800" spc="-50" dirty="0" err="1">
                <a:latin typeface="Carlito"/>
                <a:cs typeface="Carlito"/>
              </a:rPr>
              <a:t>Mastilović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lang="en-US" sz="2800" dirty="0">
                <a:latin typeface="Carlito"/>
                <a:cs typeface="Carlito"/>
              </a:rPr>
              <a:t>–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PR</a:t>
            </a:r>
            <a:r>
              <a:rPr lang="sr-Latn-RS" sz="2800" spc="-10" dirty="0">
                <a:latin typeface="Carlito"/>
                <a:cs typeface="Carlito"/>
              </a:rPr>
              <a:t>106</a:t>
            </a:r>
            <a:r>
              <a:rPr sz="2800" spc="-10" dirty="0">
                <a:latin typeface="Carlito"/>
                <a:cs typeface="Carlito"/>
              </a:rPr>
              <a:t>/20</a:t>
            </a:r>
            <a:r>
              <a:rPr lang="sr-Latn-RS" sz="2800" spc="-10" dirty="0">
                <a:latin typeface="Carlito"/>
                <a:cs typeface="Carlito"/>
              </a:rPr>
              <a:t>20</a:t>
            </a:r>
            <a:endParaRPr sz="2800" dirty="0">
              <a:latin typeface="Carlito"/>
              <a:cs typeface="Carli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6190" y="390346"/>
            <a:ext cx="1444752" cy="1502246"/>
          </a:xfrm>
          <a:prstGeom prst="rect">
            <a:avLst/>
          </a:prstGeom>
          <a:effectLst>
            <a:glow rad="127000">
              <a:schemeClr val="accent1">
                <a:lumMod val="20000"/>
                <a:lumOff val="80000"/>
                <a:alpha val="0"/>
              </a:schemeClr>
            </a:glow>
            <a:softEdge rad="38100"/>
          </a:effectLst>
        </p:spPr>
      </p:pic>
      <p:pic>
        <p:nvPicPr>
          <p:cNvPr id="11" name="object 11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399" y="440477"/>
            <a:ext cx="1481328" cy="1499616"/>
          </a:xfrm>
          <a:prstGeom prst="rect">
            <a:avLst/>
          </a:prstGeom>
          <a:effectLst>
            <a:glow rad="127000">
              <a:schemeClr val="accent1">
                <a:lumMod val="20000"/>
                <a:lumOff val="80000"/>
                <a:alpha val="0"/>
              </a:schemeClr>
            </a:glow>
            <a:softEdge rad="381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762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7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Sadržaj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884" y="1371600"/>
            <a:ext cx="3944316" cy="445057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86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endParaRPr lang="en-US" sz="200" u="sng" spc="-20" dirty="0">
              <a:solidFill>
                <a:srgbClr val="5F5F5F"/>
              </a:solidFill>
              <a:uFill>
                <a:solidFill>
                  <a:srgbClr val="5F5F5F"/>
                </a:solidFill>
              </a:uFill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86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r>
              <a:rPr lang="en-US" sz="2000" u="sng" spc="-2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  <a:sym typeface="Wingdings" panose="05000000000000000000" pitchFamily="2" charset="2"/>
              </a:rPr>
              <a:t> </a:t>
            </a:r>
            <a:r>
              <a:rPr sz="2000" u="sng" spc="-20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Uvod</a:t>
            </a:r>
            <a:endParaRPr lang="en-US" sz="2000" u="sng" spc="-20" dirty="0">
              <a:solidFill>
                <a:srgbClr val="5F5F5F"/>
              </a:solidFill>
              <a:uFill>
                <a:solidFill>
                  <a:srgbClr val="5F5F5F"/>
                </a:solidFill>
              </a:uFill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86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endParaRPr sz="1700" dirty="0"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4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r>
              <a:rPr lang="en-US" sz="2000" u="sng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  <a:sym typeface="Wingdings" panose="05000000000000000000" pitchFamily="2" charset="2"/>
              </a:rPr>
              <a:t> </a:t>
            </a:r>
            <a:r>
              <a:rPr sz="2000" u="sng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Korišćene</a:t>
            </a:r>
            <a:r>
              <a:rPr sz="2000" u="sng" spc="-2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</a:t>
            </a:r>
            <a:r>
              <a:rPr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tehnike</a:t>
            </a:r>
            <a:r>
              <a:rPr sz="2000" u="sng" spc="-55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</a:t>
            </a:r>
            <a:r>
              <a:rPr sz="2000" u="sng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i</a:t>
            </a:r>
            <a:r>
              <a:rPr sz="2000" u="sng" spc="-8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</a:t>
            </a:r>
            <a:r>
              <a:rPr sz="2000" u="sng" spc="-10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tehnologije</a:t>
            </a:r>
            <a:endParaRPr lang="en-US" sz="2000" u="sng" spc="-10" dirty="0">
              <a:solidFill>
                <a:srgbClr val="5F5F5F"/>
              </a:solidFill>
              <a:uFill>
                <a:solidFill>
                  <a:srgbClr val="5F5F5F"/>
                </a:solidFill>
              </a:uFill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4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endParaRPr sz="1700" dirty="0"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70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r>
              <a:rPr lang="en-US" sz="2000" u="sng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  <a:sym typeface="Wingdings" panose="05000000000000000000" pitchFamily="2" charset="2"/>
              </a:rPr>
              <a:t> </a:t>
            </a:r>
            <a:r>
              <a:rPr sz="2000" u="sng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Specifikacija</a:t>
            </a:r>
            <a:r>
              <a:rPr sz="2000" u="sng" spc="-9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</a:t>
            </a:r>
            <a:r>
              <a:rPr lang="en-US"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S</a:t>
            </a:r>
            <a:r>
              <a:rPr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istema</a:t>
            </a:r>
            <a:endParaRPr lang="en-US" sz="2000" u="sng" spc="-10" dirty="0">
              <a:solidFill>
                <a:srgbClr val="5F5F5F"/>
              </a:solidFill>
              <a:uFill>
                <a:solidFill>
                  <a:srgbClr val="5F5F5F"/>
                </a:solidFill>
              </a:uFill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70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endParaRPr sz="1700" dirty="0"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6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r>
              <a:rPr lang="en-US"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  <a:sym typeface="Wingdings" panose="05000000000000000000" pitchFamily="2" charset="2"/>
              </a:rPr>
              <a:t></a:t>
            </a:r>
            <a:r>
              <a:rPr lang="en-US" sz="2000" u="sng" spc="-10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Prikaz</a:t>
            </a:r>
            <a:r>
              <a:rPr lang="en-US"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</a:t>
            </a:r>
            <a:r>
              <a:rPr lang="en-US" sz="2000" u="sng" spc="-10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implementiranog</a:t>
            </a:r>
            <a:r>
              <a:rPr lang="en-US"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</a:t>
            </a:r>
            <a:r>
              <a:rPr lang="en-US" sz="2000" u="sng" spc="-10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sistema</a:t>
            </a:r>
            <a:endParaRPr lang="en-US" sz="2000" u="sng" spc="-10" dirty="0">
              <a:solidFill>
                <a:srgbClr val="5F5F5F"/>
              </a:solidFill>
              <a:uFill>
                <a:solidFill>
                  <a:srgbClr val="5F5F5F"/>
                </a:solidFill>
              </a:uFill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65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endParaRPr sz="1700" dirty="0"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930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r>
              <a:rPr lang="en-US" sz="2000" u="sng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  <a:sym typeface="Wingdings" panose="05000000000000000000" pitchFamily="2" charset="2"/>
              </a:rPr>
              <a:t> </a:t>
            </a:r>
            <a:r>
              <a:rPr lang="en-US" sz="2000" u="sng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Implementacija</a:t>
            </a:r>
            <a:r>
              <a:rPr lang="en-US" sz="2000" u="sng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 Sistema</a:t>
            </a:r>
          </a:p>
          <a:p>
            <a:pPr marL="271145" indent="-258445">
              <a:lnSpc>
                <a:spcPct val="100000"/>
              </a:lnSpc>
              <a:spcBef>
                <a:spcPts val="930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endParaRPr sz="1700" dirty="0">
              <a:latin typeface="Carlito"/>
              <a:cs typeface="Carlito"/>
            </a:endParaRPr>
          </a:p>
          <a:p>
            <a:pPr marL="271145" indent="-258445">
              <a:lnSpc>
                <a:spcPct val="100000"/>
              </a:lnSpc>
              <a:spcBef>
                <a:spcPts val="770"/>
              </a:spcBef>
              <a:buClr>
                <a:srgbClr val="DDDDDD"/>
              </a:buClr>
              <a:buFont typeface="Wingdings"/>
              <a:buChar char=""/>
              <a:tabLst>
                <a:tab pos="271145" algn="l"/>
              </a:tabLst>
            </a:pPr>
            <a:r>
              <a:rPr lang="en-US" sz="2000" u="sng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  <a:sym typeface="Wingdings" panose="05000000000000000000" pitchFamily="2" charset="2"/>
              </a:rPr>
              <a:t> </a:t>
            </a:r>
            <a:r>
              <a:rPr sz="2000" u="sng" spc="-10" dirty="0" err="1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arlito"/>
                <a:cs typeface="Carlito"/>
              </a:rPr>
              <a:t>Zaključak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2192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8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Uvod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929533"/>
            <a:ext cx="10439400" cy="5395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60655" indent="-147955"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/>
              <a:t>Tema </a:t>
            </a:r>
            <a:r>
              <a:rPr lang="en-US" sz="1750" b="1" dirty="0" err="1"/>
              <a:t>rada</a:t>
            </a:r>
            <a:r>
              <a:rPr lang="en-US" sz="1750" dirty="0"/>
              <a:t>: “</a:t>
            </a:r>
            <a:r>
              <a:rPr lang="en-US" sz="1750" dirty="0" err="1"/>
              <a:t>Implementacija</a:t>
            </a:r>
            <a:r>
              <a:rPr lang="en-US" sz="1750" dirty="0"/>
              <a:t> Cloud </a:t>
            </a:r>
            <a:r>
              <a:rPr lang="en-US" sz="1750" dirty="0" err="1"/>
              <a:t>tehnologija</a:t>
            </a:r>
            <a:r>
              <a:rPr lang="en-US" sz="1750" dirty="0"/>
              <a:t> za </a:t>
            </a:r>
            <a:r>
              <a:rPr lang="en-US" sz="1750" dirty="0" err="1"/>
              <a:t>razvoj</a:t>
            </a:r>
            <a:r>
              <a:rPr lang="en-US" sz="1750" dirty="0"/>
              <a:t> </a:t>
            </a:r>
            <a:r>
              <a:rPr lang="en-US" sz="1750" dirty="0" err="1"/>
              <a:t>aplikacije</a:t>
            </a:r>
            <a:r>
              <a:rPr lang="en-US" sz="1750" dirty="0"/>
              <a:t> za </a:t>
            </a:r>
            <a:r>
              <a:rPr lang="en-US" sz="1750" dirty="0" err="1"/>
              <a:t>upravljanje</a:t>
            </a:r>
            <a:r>
              <a:rPr lang="en-US" sz="1750" dirty="0"/>
              <a:t> </a:t>
            </a:r>
            <a:r>
              <a:rPr lang="en-US" sz="1750" dirty="0" err="1"/>
              <a:t>forumskim</a:t>
            </a:r>
            <a:r>
              <a:rPr lang="en-US" sz="1750" dirty="0"/>
              <a:t> </a:t>
            </a:r>
            <a:r>
              <a:rPr lang="en-US" sz="1750" dirty="0" err="1"/>
              <a:t>temama</a:t>
            </a:r>
            <a:r>
              <a:rPr lang="en-US" sz="1750" dirty="0"/>
              <a:t> </a:t>
            </a:r>
            <a:r>
              <a:rPr lang="en-US" sz="1750" dirty="0" err="1"/>
              <a:t>i</a:t>
            </a:r>
            <a:r>
              <a:rPr lang="en-US" sz="1750" dirty="0"/>
              <a:t> </a:t>
            </a:r>
            <a:r>
              <a:rPr lang="en-US" sz="1750" dirty="0" err="1"/>
              <a:t>komentarima</a:t>
            </a:r>
            <a:r>
              <a:rPr lang="en-US" sz="1750" dirty="0"/>
              <a:t> </a:t>
            </a:r>
            <a:r>
              <a:rPr lang="en-US" sz="1750" dirty="0" err="1"/>
              <a:t>na</a:t>
            </a:r>
            <a:r>
              <a:rPr lang="en-US" sz="1750" dirty="0"/>
              <a:t> </a:t>
            </a:r>
            <a:r>
              <a:rPr lang="en-US" sz="1750" dirty="0" err="1"/>
              <a:t>primeru</a:t>
            </a:r>
            <a:r>
              <a:rPr lang="en-US" sz="1750" dirty="0"/>
              <a:t> </a:t>
            </a:r>
            <a:r>
              <a:rPr lang="en-US" sz="1750" dirty="0" err="1"/>
              <a:t>Reddita</a:t>
            </a:r>
            <a:r>
              <a:rPr lang="en-US" sz="1750" dirty="0"/>
              <a:t>.“</a:t>
            </a:r>
            <a:endParaRPr lang="en-US" sz="1750" b="1" dirty="0"/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750" b="1" dirty="0"/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/>
              <a:t>CLOUD </a:t>
            </a:r>
            <a:r>
              <a:rPr lang="en-US" sz="1750" b="1" dirty="0" err="1"/>
              <a:t>tehnologije</a:t>
            </a:r>
            <a:r>
              <a:rPr lang="en-US" sz="1750" dirty="0"/>
              <a:t> </a:t>
            </a:r>
            <a:r>
              <a:rPr lang="en-US" sz="1750" dirty="0" err="1"/>
              <a:t>su</a:t>
            </a:r>
            <a:r>
              <a:rPr lang="en-US" sz="1750" dirty="0"/>
              <a:t> se </a:t>
            </a:r>
            <a:r>
              <a:rPr lang="en-US" sz="1750" dirty="0" err="1"/>
              <a:t>izdvojile</a:t>
            </a:r>
            <a:r>
              <a:rPr lang="en-US" sz="1750" dirty="0"/>
              <a:t> </a:t>
            </a:r>
            <a:r>
              <a:rPr lang="en-US" sz="1750" dirty="0" err="1"/>
              <a:t>kao</a:t>
            </a:r>
            <a:r>
              <a:rPr lang="en-US" sz="1750" dirty="0"/>
              <a:t> </a:t>
            </a:r>
            <a:r>
              <a:rPr lang="en-US" sz="1750" dirty="0" err="1"/>
              <a:t>ključni</a:t>
            </a:r>
            <a:r>
              <a:rPr lang="en-US" sz="1750" dirty="0"/>
              <a:t> </a:t>
            </a:r>
            <a:r>
              <a:rPr lang="en-US" sz="1750" dirty="0" err="1"/>
              <a:t>faktor</a:t>
            </a:r>
            <a:r>
              <a:rPr lang="en-US" sz="1750" dirty="0"/>
              <a:t> u </a:t>
            </a:r>
            <a:r>
              <a:rPr lang="en-US" sz="1750" dirty="0" err="1"/>
              <a:t>omogućavanju</a:t>
            </a:r>
            <a:r>
              <a:rPr lang="en-US" sz="1750" dirty="0"/>
              <a:t> </a:t>
            </a:r>
            <a:r>
              <a:rPr lang="en-US" sz="1750" dirty="0" err="1"/>
              <a:t>skalabilnih</a:t>
            </a:r>
            <a:r>
              <a:rPr lang="en-US" sz="1750" dirty="0"/>
              <a:t>, </a:t>
            </a:r>
            <a:r>
              <a:rPr lang="en-US" sz="1750" dirty="0" err="1"/>
              <a:t>fleksibilnih</a:t>
            </a:r>
            <a:r>
              <a:rPr lang="en-US" sz="1750" dirty="0"/>
              <a:t> </a:t>
            </a:r>
            <a:r>
              <a:rPr lang="en-US" sz="1750" dirty="0" err="1"/>
              <a:t>i</a:t>
            </a:r>
            <a:r>
              <a:rPr lang="en-US" sz="1750" dirty="0"/>
              <a:t> </a:t>
            </a:r>
            <a:r>
              <a:rPr lang="en-US" sz="1750" dirty="0" err="1"/>
              <a:t>pouzdanih</a:t>
            </a:r>
            <a:r>
              <a:rPr lang="en-US" sz="1750" dirty="0"/>
              <a:t> </a:t>
            </a:r>
            <a:r>
              <a:rPr lang="en-US" sz="1750" dirty="0" err="1"/>
              <a:t>aplikacija</a:t>
            </a:r>
            <a:r>
              <a:rPr lang="en-US" sz="1750" dirty="0"/>
              <a:t>.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750" dirty="0">
              <a:latin typeface="Carlito"/>
            </a:endParaRP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 err="1"/>
              <a:t>Upotreba</a:t>
            </a:r>
            <a:r>
              <a:rPr lang="en-US" sz="1750" b="1" dirty="0"/>
              <a:t> CLOUD </a:t>
            </a:r>
            <a:r>
              <a:rPr lang="en-US" sz="1750" b="1" dirty="0" err="1"/>
              <a:t>servisa</a:t>
            </a:r>
            <a:r>
              <a:rPr lang="en-US" sz="1750" dirty="0"/>
              <a:t> </a:t>
            </a:r>
            <a:r>
              <a:rPr lang="en-US" sz="1750" dirty="0" err="1"/>
              <a:t>omogućava</a:t>
            </a:r>
            <a:r>
              <a:rPr lang="en-US" sz="1750" dirty="0"/>
              <a:t> </a:t>
            </a:r>
            <a:r>
              <a:rPr lang="en-US" sz="1750" dirty="0" err="1"/>
              <a:t>organizacijama</a:t>
            </a:r>
            <a:r>
              <a:rPr lang="en-US" sz="1750" dirty="0"/>
              <a:t> </a:t>
            </a:r>
            <a:r>
              <a:rPr lang="en-US" sz="1750" dirty="0" err="1"/>
              <a:t>i</a:t>
            </a:r>
            <a:r>
              <a:rPr lang="en-US" sz="1750" dirty="0"/>
              <a:t> </a:t>
            </a:r>
            <a:r>
              <a:rPr lang="en-US" sz="1750" dirty="0" err="1"/>
              <a:t>programerima</a:t>
            </a:r>
            <a:r>
              <a:rPr lang="en-US" sz="1750" dirty="0"/>
              <a:t> da </a:t>
            </a:r>
            <a:r>
              <a:rPr lang="en-US" sz="1750" dirty="0" err="1"/>
              <a:t>efikasno</a:t>
            </a:r>
            <a:r>
              <a:rPr lang="en-US" sz="1750" dirty="0"/>
              <a:t> </a:t>
            </a:r>
            <a:r>
              <a:rPr lang="en-US" sz="1750" dirty="0" err="1"/>
              <a:t>upravljaju</a:t>
            </a:r>
            <a:r>
              <a:rPr lang="en-US" sz="1750" dirty="0"/>
              <a:t> </a:t>
            </a:r>
            <a:r>
              <a:rPr lang="en-US" sz="1750" dirty="0" err="1"/>
              <a:t>resursima</a:t>
            </a:r>
            <a:r>
              <a:rPr lang="en-US" sz="1750" dirty="0"/>
              <a:t>, </a:t>
            </a:r>
            <a:r>
              <a:rPr lang="en-US" sz="1750" dirty="0" err="1"/>
              <a:t>poboljšaju</a:t>
            </a:r>
            <a:r>
              <a:rPr lang="en-US" sz="1750" dirty="0"/>
              <a:t> </a:t>
            </a:r>
            <a:r>
              <a:rPr lang="en-US" sz="1750" dirty="0" err="1"/>
              <a:t>performanse</a:t>
            </a:r>
            <a:r>
              <a:rPr lang="en-US" sz="1750" dirty="0"/>
              <a:t> </a:t>
            </a:r>
            <a:r>
              <a:rPr lang="en-US" sz="1750" dirty="0" err="1"/>
              <a:t>i</a:t>
            </a:r>
            <a:r>
              <a:rPr lang="en-US" sz="1750" dirty="0"/>
              <a:t> </a:t>
            </a:r>
            <a:r>
              <a:rPr lang="en-US" sz="1750" dirty="0" err="1"/>
              <a:t>smanje</a:t>
            </a:r>
            <a:r>
              <a:rPr lang="en-US" sz="1750" dirty="0"/>
              <a:t> </a:t>
            </a:r>
            <a:r>
              <a:rPr lang="en-US" sz="1750" dirty="0" err="1"/>
              <a:t>operativne</a:t>
            </a:r>
            <a:r>
              <a:rPr lang="en-US" sz="1750" dirty="0"/>
              <a:t> </a:t>
            </a:r>
            <a:r>
              <a:rPr lang="en-US" sz="1750" dirty="0" err="1"/>
              <a:t>troškove</a:t>
            </a:r>
            <a:r>
              <a:rPr lang="en-US" sz="1750" dirty="0"/>
              <a:t>.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750" dirty="0">
              <a:latin typeface="Carlito"/>
              <a:cs typeface="Carlito"/>
            </a:endParaRP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/>
              <a:t>Microsoft Azure</a:t>
            </a:r>
            <a:r>
              <a:rPr lang="en-US" sz="1750" dirty="0"/>
              <a:t> </a:t>
            </a:r>
            <a:r>
              <a:rPr lang="en-US" sz="1750" dirty="0" err="1"/>
              <a:t>omogućava</a:t>
            </a:r>
            <a:r>
              <a:rPr lang="en-US" sz="1750" dirty="0"/>
              <a:t> </a:t>
            </a:r>
            <a:r>
              <a:rPr lang="en-US" sz="1750" dirty="0" err="1"/>
              <a:t>razvoj</a:t>
            </a:r>
            <a:r>
              <a:rPr lang="en-US" sz="1750" dirty="0"/>
              <a:t> </a:t>
            </a:r>
            <a:r>
              <a:rPr lang="en-US" sz="1750" dirty="0" err="1"/>
              <a:t>distribuiranih</a:t>
            </a:r>
            <a:r>
              <a:rPr lang="en-US" sz="1750" dirty="0"/>
              <a:t> </a:t>
            </a:r>
            <a:r>
              <a:rPr lang="en-US" sz="1750" dirty="0" err="1"/>
              <a:t>sistema</a:t>
            </a:r>
            <a:r>
              <a:rPr lang="en-US" sz="1750" dirty="0"/>
              <a:t> koji </a:t>
            </a:r>
            <a:r>
              <a:rPr lang="en-US" sz="1750" dirty="0" err="1"/>
              <a:t>obezbeđuju</a:t>
            </a:r>
            <a:r>
              <a:rPr lang="en-US" sz="1750" dirty="0"/>
              <a:t> </a:t>
            </a:r>
            <a:r>
              <a:rPr lang="en-US" sz="1750" dirty="0" err="1"/>
              <a:t>visoku</a:t>
            </a:r>
            <a:r>
              <a:rPr lang="en-US" sz="1750" dirty="0"/>
              <a:t> </a:t>
            </a:r>
            <a:r>
              <a:rPr lang="en-US" sz="1750" dirty="0" err="1"/>
              <a:t>dostupnost</a:t>
            </a:r>
            <a:r>
              <a:rPr lang="en-US" sz="1750" dirty="0"/>
              <a:t> </a:t>
            </a:r>
            <a:r>
              <a:rPr lang="en-US" sz="1750" dirty="0" err="1"/>
              <a:t>i</a:t>
            </a:r>
            <a:r>
              <a:rPr lang="en-US" sz="1750" dirty="0"/>
              <a:t> </a:t>
            </a:r>
            <a:r>
              <a:rPr lang="en-US" sz="1750" dirty="0" err="1"/>
              <a:t>performanse</a:t>
            </a:r>
            <a:r>
              <a:rPr lang="en-US" sz="1750" dirty="0"/>
              <a:t>.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750" dirty="0"/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 err="1"/>
              <a:t>Implementacija</a:t>
            </a:r>
            <a:r>
              <a:rPr lang="en-US" sz="1750" b="1" dirty="0"/>
              <a:t> </a:t>
            </a:r>
            <a:r>
              <a:rPr lang="en-US" sz="1750" b="1" dirty="0" err="1"/>
              <a:t>složenih</a:t>
            </a:r>
            <a:r>
              <a:rPr lang="en-US" sz="1750" b="1" dirty="0"/>
              <a:t> </a:t>
            </a:r>
            <a:r>
              <a:rPr lang="en-US" sz="1750" b="1" dirty="0" err="1"/>
              <a:t>poslovnih</a:t>
            </a:r>
            <a:r>
              <a:rPr lang="en-US" sz="1750" b="1" dirty="0"/>
              <a:t> </a:t>
            </a:r>
            <a:r>
              <a:rPr lang="en-US" sz="1750" b="1" dirty="0" err="1"/>
              <a:t>procesa</a:t>
            </a:r>
            <a:r>
              <a:rPr lang="en-US" sz="1750" dirty="0"/>
              <a:t> </a:t>
            </a:r>
            <a:r>
              <a:rPr lang="en-US" sz="1750" dirty="0" err="1"/>
              <a:t>uz</a:t>
            </a:r>
            <a:r>
              <a:rPr lang="en-US" sz="1750" dirty="0"/>
              <a:t> </a:t>
            </a:r>
            <a:r>
              <a:rPr lang="en-US" sz="1750" dirty="0" err="1"/>
              <a:t>korišćenje</a:t>
            </a:r>
            <a:r>
              <a:rPr lang="en-US" sz="1750" dirty="0"/>
              <a:t> Microsoft Azure </a:t>
            </a:r>
            <a:r>
              <a:rPr lang="en-US" sz="1750" dirty="0" err="1"/>
              <a:t>tehnologija</a:t>
            </a:r>
            <a:r>
              <a:rPr lang="en-US" sz="1750" dirty="0"/>
              <a:t>: </a:t>
            </a:r>
            <a:r>
              <a:rPr lang="en-US" sz="1750" dirty="0" err="1"/>
              <a:t>WebRole</a:t>
            </a:r>
            <a:r>
              <a:rPr lang="en-US" sz="1750" dirty="0"/>
              <a:t>, </a:t>
            </a:r>
            <a:r>
              <a:rPr lang="en-US" sz="1750" dirty="0" err="1"/>
              <a:t>WorkerRole</a:t>
            </a:r>
            <a:r>
              <a:rPr lang="en-US" sz="1750" dirty="0"/>
              <a:t>, Table Storage, Blob Storage, Queue Storage.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750" dirty="0"/>
          </a:p>
          <a:p>
            <a:pPr marL="160655" indent="-147955"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 err="1"/>
              <a:t>Fokus</a:t>
            </a:r>
            <a:r>
              <a:rPr lang="en-US" sz="1750" b="1" dirty="0"/>
              <a:t> </a:t>
            </a:r>
            <a:r>
              <a:rPr lang="en-US" sz="1750" b="1" dirty="0" err="1"/>
              <a:t>na</a:t>
            </a:r>
            <a:r>
              <a:rPr lang="en-US" sz="1750" b="1" dirty="0"/>
              <a:t> </a:t>
            </a:r>
            <a:r>
              <a:rPr lang="en-US" sz="1750" b="1" dirty="0" err="1"/>
              <a:t>korisničke</a:t>
            </a:r>
            <a:r>
              <a:rPr lang="en-US" sz="1750" b="1" dirty="0"/>
              <a:t> </a:t>
            </a:r>
            <a:r>
              <a:rPr lang="en-US" sz="1750" b="1" dirty="0" err="1"/>
              <a:t>potrebe</a:t>
            </a:r>
            <a:r>
              <a:rPr lang="en-US" sz="1750" dirty="0"/>
              <a:t>: </a:t>
            </a:r>
            <a:r>
              <a:rPr lang="en-US" sz="1750" dirty="0" err="1"/>
              <a:t>Razumevanje</a:t>
            </a:r>
            <a:r>
              <a:rPr lang="en-US" sz="1750" dirty="0"/>
              <a:t> </a:t>
            </a:r>
            <a:r>
              <a:rPr lang="en-US" sz="1750" dirty="0" err="1"/>
              <a:t>potreba</a:t>
            </a:r>
            <a:r>
              <a:rPr lang="en-US" sz="1750" dirty="0"/>
              <a:t> </a:t>
            </a:r>
            <a:r>
              <a:rPr lang="en-US" sz="1750" dirty="0" err="1"/>
              <a:t>korisnika</a:t>
            </a:r>
            <a:r>
              <a:rPr lang="en-US" sz="1750" dirty="0"/>
              <a:t> </a:t>
            </a:r>
            <a:r>
              <a:rPr lang="en-US" sz="1750" dirty="0" err="1"/>
              <a:t>i</a:t>
            </a:r>
            <a:r>
              <a:rPr lang="en-US" sz="1750" dirty="0"/>
              <a:t> </a:t>
            </a:r>
            <a:r>
              <a:rPr lang="en-US" sz="1750" dirty="0" err="1"/>
              <a:t>način</a:t>
            </a:r>
            <a:r>
              <a:rPr lang="en-US" sz="1750" dirty="0"/>
              <a:t> </a:t>
            </a:r>
            <a:r>
              <a:rPr lang="en-US" sz="1750" dirty="0" err="1"/>
              <a:t>na</a:t>
            </a:r>
            <a:r>
              <a:rPr lang="en-US" sz="1750" dirty="0"/>
              <a:t> koji </a:t>
            </a:r>
            <a:r>
              <a:rPr lang="en-US" sz="1750" dirty="0" err="1"/>
              <a:t>će</a:t>
            </a:r>
            <a:r>
              <a:rPr lang="en-US" sz="1750" dirty="0"/>
              <a:t> </a:t>
            </a:r>
            <a:r>
              <a:rPr lang="en-US" sz="1750" dirty="0" err="1"/>
              <a:t>koristiti</a:t>
            </a:r>
            <a:r>
              <a:rPr lang="en-US" sz="1750" dirty="0"/>
              <a:t> </a:t>
            </a:r>
            <a:r>
              <a:rPr lang="en-US" sz="1750" dirty="0" err="1"/>
              <a:t>aplikaciju</a:t>
            </a:r>
            <a:r>
              <a:rPr lang="en-US" sz="1750" dirty="0"/>
              <a:t>.</a:t>
            </a:r>
          </a:p>
          <a:p>
            <a:pPr marL="12700">
              <a:spcBef>
                <a:spcPts val="310"/>
              </a:spcBef>
              <a:buClr>
                <a:srgbClr val="7B7B7B"/>
              </a:buClr>
              <a:tabLst>
                <a:tab pos="160655" algn="l"/>
              </a:tabLst>
            </a:pPr>
            <a:endParaRPr lang="en-US" sz="1750" dirty="0"/>
          </a:p>
          <a:p>
            <a:pPr marL="160655" indent="-147955"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750" b="1" dirty="0" err="1"/>
              <a:t>Ključne</a:t>
            </a:r>
            <a:r>
              <a:rPr lang="en-US" sz="1750" b="1" dirty="0"/>
              <a:t> </a:t>
            </a:r>
            <a:r>
              <a:rPr lang="en-US" sz="1750" b="1" dirty="0" err="1"/>
              <a:t>komponente</a:t>
            </a:r>
            <a:r>
              <a:rPr lang="en-US" sz="1750" b="1" dirty="0"/>
              <a:t> </a:t>
            </a:r>
            <a:r>
              <a:rPr lang="en-US" sz="1750" b="1" dirty="0" err="1"/>
              <a:t>sistema</a:t>
            </a:r>
            <a:r>
              <a:rPr lang="en-US" sz="1750" dirty="0"/>
              <a:t>: </a:t>
            </a:r>
            <a:r>
              <a:rPr lang="en-US" sz="1750" dirty="0" err="1"/>
              <a:t>AdminTools</a:t>
            </a:r>
            <a:r>
              <a:rPr lang="en-US" sz="1750" dirty="0"/>
              <a:t>, Common, </a:t>
            </a:r>
            <a:r>
              <a:rPr lang="en-US" sz="1750" dirty="0" err="1"/>
              <a:t>HealthMonitoringService</a:t>
            </a:r>
            <a:r>
              <a:rPr lang="en-US" sz="1750" dirty="0"/>
              <a:t>, </a:t>
            </a:r>
            <a:r>
              <a:rPr lang="en-US" sz="1750" dirty="0" err="1"/>
              <a:t>NotificationService</a:t>
            </a:r>
            <a:r>
              <a:rPr lang="en-US" sz="1750" dirty="0"/>
              <a:t>, Reddit, </a:t>
            </a:r>
            <a:r>
              <a:rPr lang="en-US" sz="1750" dirty="0" err="1"/>
              <a:t>RedditService</a:t>
            </a:r>
            <a:r>
              <a:rPr lang="en-US" sz="1750" dirty="0"/>
              <a:t>, </a:t>
            </a:r>
            <a:r>
              <a:rPr lang="en-US" sz="1750" dirty="0" err="1"/>
              <a:t>WebRole</a:t>
            </a:r>
            <a:r>
              <a:rPr lang="en-US" sz="1750" dirty="0"/>
              <a:t>.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sz="1800" dirty="0">
              <a:latin typeface="Carlito"/>
              <a:cs typeface="Carli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762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Kori</a:t>
            </a:r>
            <a:r>
              <a:rPr lang="sr-Latn-RS" sz="4000" b="1" spc="-9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šćene tehnike i tehnologije</a:t>
            </a:r>
            <a:endParaRPr sz="4000" b="1" spc="-70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1251293"/>
            <a:ext cx="12192000" cy="30610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655" indent="-147955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  <a:tab pos="932815" algn="l"/>
                <a:tab pos="1838325" algn="l"/>
                <a:tab pos="2652395" algn="l"/>
                <a:tab pos="3460750" algn="l"/>
                <a:tab pos="3698240" algn="l"/>
                <a:tab pos="4774565" algn="l"/>
                <a:tab pos="5741035" algn="l"/>
                <a:tab pos="6536690" algn="l"/>
                <a:tab pos="6896100" algn="l"/>
                <a:tab pos="7664450" algn="l"/>
                <a:tab pos="9039860" algn="l"/>
                <a:tab pos="9237980" algn="l"/>
              </a:tabLst>
            </a:pPr>
            <a:r>
              <a:rPr lang="en-US" b="1" dirty="0" err="1"/>
              <a:t>Razvoj</a:t>
            </a:r>
            <a:r>
              <a:rPr lang="en-US" b="1" dirty="0"/>
              <a:t> </a:t>
            </a:r>
            <a:r>
              <a:rPr lang="en-US" b="1" dirty="0" err="1"/>
              <a:t>savremene</a:t>
            </a:r>
            <a:r>
              <a:rPr lang="en-US" b="1" dirty="0"/>
              <a:t> CLOUD </a:t>
            </a:r>
            <a:r>
              <a:rPr lang="en-US" b="1" dirty="0" err="1"/>
              <a:t>aplikacije</a:t>
            </a:r>
            <a:r>
              <a:rPr lang="en-US" dirty="0"/>
              <a:t> je </a:t>
            </a:r>
            <a:r>
              <a:rPr lang="en-US" dirty="0" err="1"/>
              <a:t>kompleksan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koji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integraciju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tehnika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, </a:t>
            </a:r>
            <a:r>
              <a:rPr lang="en-US" dirty="0" err="1"/>
              <a:t>tehnologije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kori</a:t>
            </a:r>
            <a:r>
              <a:rPr lang="sr-Latn-RS" dirty="0"/>
              <a:t>štene su</a:t>
            </a:r>
            <a:r>
              <a:rPr lang="en-US" dirty="0"/>
              <a:t>: Microsoft Visual Studio [2022], C#, JavaScript, HTML</a:t>
            </a:r>
            <a:r>
              <a:rPr lang="sr-Latn-RS" dirty="0"/>
              <a:t>,</a:t>
            </a:r>
            <a:r>
              <a:rPr lang="en-US" dirty="0"/>
              <a:t> CSS</a:t>
            </a:r>
            <a:r>
              <a:rPr lang="sr-Latn-RS" dirty="0"/>
              <a:t>, t</a:t>
            </a:r>
            <a:r>
              <a:rPr lang="en-US" dirty="0" err="1"/>
              <a:t>ehnologije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pr</a:t>
            </a:r>
            <a:r>
              <a:rPr lang="sr-Latn-RS" dirty="0"/>
              <a:t>uža Microsoft Azure kao što su Azure </a:t>
            </a:r>
            <a:r>
              <a:rPr lang="sr-Latn-RS" dirty="0" err="1"/>
              <a:t>Cloud</a:t>
            </a:r>
            <a:r>
              <a:rPr lang="sr-Latn-RS" dirty="0"/>
              <a:t> </a:t>
            </a:r>
            <a:r>
              <a:rPr lang="sr-Latn-RS" dirty="0" err="1"/>
              <a:t>Service</a:t>
            </a:r>
            <a:r>
              <a:rPr lang="sr-Latn-RS" dirty="0"/>
              <a:t> i Azure </a:t>
            </a:r>
            <a:r>
              <a:rPr lang="sr-Latn-RS" dirty="0" err="1"/>
              <a:t>Storage</a:t>
            </a:r>
            <a:r>
              <a:rPr lang="sr-Latn-RS" dirty="0"/>
              <a:t> </a:t>
            </a:r>
            <a:r>
              <a:rPr lang="sr-Latn-RS" dirty="0" err="1"/>
              <a:t>Service</a:t>
            </a:r>
            <a:r>
              <a:rPr lang="sr-Latn-RS" dirty="0"/>
              <a:t> Explorer</a:t>
            </a:r>
            <a:r>
              <a:rPr lang="en-US" dirty="0"/>
              <a:t>, Microsoft Azure Compute Emulator, Microsoft Azure Storage Emulator</a:t>
            </a:r>
          </a:p>
          <a:p>
            <a:pPr marL="160655" indent="-147955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  <a:tab pos="932815" algn="l"/>
                <a:tab pos="1838325" algn="l"/>
                <a:tab pos="2652395" algn="l"/>
                <a:tab pos="3460750" algn="l"/>
                <a:tab pos="3698240" algn="l"/>
                <a:tab pos="4774565" algn="l"/>
                <a:tab pos="5741035" algn="l"/>
                <a:tab pos="6536690" algn="l"/>
                <a:tab pos="6896100" algn="l"/>
                <a:tab pos="7664450" algn="l"/>
                <a:tab pos="9039860" algn="l"/>
                <a:tab pos="9237980" algn="l"/>
              </a:tabLst>
            </a:pPr>
            <a:endParaRPr lang="en-US" b="1" dirty="0"/>
          </a:p>
          <a:p>
            <a:pPr marL="160655" indent="-147955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  <a:tab pos="932815" algn="l"/>
                <a:tab pos="1838325" algn="l"/>
                <a:tab pos="2652395" algn="l"/>
                <a:tab pos="3460750" algn="l"/>
                <a:tab pos="3698240" algn="l"/>
                <a:tab pos="4774565" algn="l"/>
                <a:tab pos="5741035" algn="l"/>
                <a:tab pos="6536690" algn="l"/>
                <a:tab pos="6896100" algn="l"/>
                <a:tab pos="7664450" algn="l"/>
                <a:tab pos="9039860" algn="l"/>
                <a:tab pos="9237980" algn="l"/>
              </a:tabLst>
            </a:pPr>
            <a:r>
              <a:rPr lang="en-US" b="1" dirty="0" err="1"/>
              <a:t>Ključni</a:t>
            </a:r>
            <a:r>
              <a:rPr lang="en-US" b="1" dirty="0"/>
              <a:t> </a:t>
            </a:r>
            <a:r>
              <a:rPr lang="en-US" b="1" dirty="0" err="1"/>
              <a:t>alati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jezici</a:t>
            </a:r>
            <a:r>
              <a:rPr lang="en-US" dirty="0"/>
              <a:t>:</a:t>
            </a:r>
          </a:p>
          <a:p>
            <a:pPr marL="160655" indent="-147955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  <a:tab pos="932815" algn="l"/>
                <a:tab pos="1838325" algn="l"/>
                <a:tab pos="2652395" algn="l"/>
                <a:tab pos="3460750" algn="l"/>
                <a:tab pos="3698240" algn="l"/>
                <a:tab pos="4774565" algn="l"/>
                <a:tab pos="5741035" algn="l"/>
                <a:tab pos="6536690" algn="l"/>
                <a:tab pos="6896100" algn="l"/>
                <a:tab pos="7664450" algn="l"/>
                <a:tab pos="9039860" algn="l"/>
                <a:tab pos="9237980" algn="l"/>
              </a:tabLst>
            </a:pP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/>
              <a:t>Microsoft Visual Studio 2022</a:t>
            </a:r>
            <a:r>
              <a:rPr lang="en-US" dirty="0"/>
              <a:t>: </a:t>
            </a:r>
            <a:r>
              <a:rPr lang="en-US" dirty="0" err="1"/>
              <a:t>Integrisano</a:t>
            </a:r>
            <a:r>
              <a:rPr lang="en-US" dirty="0"/>
              <a:t> </a:t>
            </a:r>
            <a:r>
              <a:rPr lang="en-US" dirty="0" err="1"/>
              <a:t>razvojno</a:t>
            </a:r>
            <a:r>
              <a:rPr lang="en-US" dirty="0"/>
              <a:t> </a:t>
            </a:r>
            <a:r>
              <a:rPr lang="en-US" dirty="0" err="1"/>
              <a:t>okruženje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naprednim</a:t>
            </a:r>
            <a:r>
              <a:rPr lang="en-US" dirty="0"/>
              <a:t> </a:t>
            </a:r>
            <a:r>
              <a:rPr lang="en-US" dirty="0" err="1"/>
              <a:t>alatima</a:t>
            </a:r>
            <a:r>
              <a:rPr lang="en-US" dirty="0"/>
              <a:t> za </a:t>
            </a:r>
            <a:r>
              <a:rPr lang="en-US" dirty="0" err="1"/>
              <a:t>razvoj</a:t>
            </a:r>
            <a:r>
              <a:rPr lang="en-US" dirty="0"/>
              <a:t>, </a:t>
            </a:r>
            <a:r>
              <a:rPr lang="en-US" dirty="0" err="1"/>
              <a:t>debagovanje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.</a:t>
            </a:r>
          </a:p>
          <a:p>
            <a:pPr marL="395605" lvl="1" indent="-182245"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sv-SE" sz="1800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sz="2000" dirty="0"/>
          </a:p>
        </p:txBody>
      </p:sp>
      <p:pic>
        <p:nvPicPr>
          <p:cNvPr id="8" name="Slika 7" descr="Slika na kojoj se nalazi tekst, snimak ekrana, linija, dijagram&#10;&#10;Opis je automatski generisan">
            <a:extLst>
              <a:ext uri="{FF2B5EF4-FFF2-40B4-BE49-F238E27FC236}">
                <a16:creationId xmlns:a16="http://schemas.microsoft.com/office/drawing/2014/main" id="{8DE49725-05DB-2E01-C60A-768B24FA7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755281"/>
            <a:ext cx="4724400" cy="2950319"/>
          </a:xfrm>
          <a:prstGeom prst="rect">
            <a:avLst/>
          </a:prstGeom>
        </p:spPr>
      </p:pic>
      <p:sp>
        <p:nvSpPr>
          <p:cNvPr id="9" name="Okvir za tekst 8">
            <a:extLst>
              <a:ext uri="{FF2B5EF4-FFF2-40B4-BE49-F238E27FC236}">
                <a16:creationId xmlns:a16="http://schemas.microsoft.com/office/drawing/2014/main" id="{F11F0C5F-9C58-17A5-33F8-DF64C2B9C360}"/>
              </a:ext>
            </a:extLst>
          </p:cNvPr>
          <p:cNvSpPr txBox="1"/>
          <p:nvPr/>
        </p:nvSpPr>
        <p:spPr>
          <a:xfrm>
            <a:off x="-76200" y="3736047"/>
            <a:ext cx="6858000" cy="213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5605" lvl="1" indent="-182245"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sv-SE" sz="1800" b="1" dirty="0"/>
              <a:t>C#</a:t>
            </a:r>
            <a:r>
              <a:rPr lang="sv-SE" sz="1800" dirty="0"/>
              <a:t>: </a:t>
            </a:r>
            <a:r>
              <a:rPr lang="sr-Latn-RS" sz="1800" dirty="0"/>
              <a:t>Jednostavan, Br</a:t>
            </a:r>
            <a:r>
              <a:rPr lang="en-US" sz="1800" dirty="0"/>
              <a:t>z, </a:t>
            </a:r>
            <a:r>
              <a:rPr lang="en-US" sz="1800" dirty="0" err="1"/>
              <a:t>Siguran</a:t>
            </a:r>
            <a:r>
              <a:rPr lang="en-US" sz="1800" dirty="0"/>
              <a:t>, </a:t>
            </a:r>
            <a:r>
              <a:rPr lang="sv-SE" sz="1800" dirty="0"/>
              <a:t>Moderan, Interoperabilan, Skalabilan Objektno orijentisan programski jezik.</a:t>
            </a:r>
          </a:p>
          <a:p>
            <a:pPr marL="395605" lvl="1" indent="-182245"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sv-SE" sz="1800" dirty="0"/>
          </a:p>
          <a:p>
            <a:pPr marL="395605" lvl="1" indent="-182245"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sz="1800" b="1" dirty="0"/>
              <a:t>JavaScript, HTML, CSS</a:t>
            </a:r>
            <a:r>
              <a:rPr lang="en-US" sz="1800" dirty="0"/>
              <a:t>: </a:t>
            </a:r>
            <a:r>
              <a:rPr lang="en-US" sz="1800" dirty="0" err="1"/>
              <a:t>Omogućavaju</a:t>
            </a:r>
            <a:r>
              <a:rPr lang="en-US" sz="1800" dirty="0"/>
              <a:t> </a:t>
            </a:r>
            <a:r>
              <a:rPr lang="en-US" sz="1800" dirty="0" err="1"/>
              <a:t>kreiranje</a:t>
            </a:r>
            <a:r>
              <a:rPr lang="en-US" sz="1800" dirty="0"/>
              <a:t> </a:t>
            </a:r>
            <a:r>
              <a:rPr lang="en-US" sz="1800" dirty="0" err="1"/>
              <a:t>dinamičnih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interaktivnih</a:t>
            </a:r>
            <a:r>
              <a:rPr lang="en-US" sz="1800" dirty="0"/>
              <a:t> </a:t>
            </a:r>
            <a:r>
              <a:rPr lang="en-US" sz="1800" dirty="0" err="1"/>
              <a:t>korisničkih</a:t>
            </a:r>
            <a:r>
              <a:rPr lang="en-US" sz="1800" dirty="0"/>
              <a:t> </a:t>
            </a:r>
            <a:r>
              <a:rPr lang="en-US" sz="1800" dirty="0" err="1"/>
              <a:t>interfejsa</a:t>
            </a:r>
            <a:r>
              <a:rPr lang="en-US" sz="1800" dirty="0"/>
              <a:t>.</a:t>
            </a:r>
          </a:p>
          <a:p>
            <a:pPr marL="12700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tabLst>
                <a:tab pos="160655" algn="l"/>
                <a:tab pos="932815" algn="l"/>
                <a:tab pos="1838325" algn="l"/>
                <a:tab pos="2652395" algn="l"/>
                <a:tab pos="3460750" algn="l"/>
                <a:tab pos="3698240" algn="l"/>
                <a:tab pos="4774565" algn="l"/>
                <a:tab pos="5741035" algn="l"/>
                <a:tab pos="6536690" algn="l"/>
                <a:tab pos="6896100" algn="l"/>
                <a:tab pos="7664450" algn="l"/>
                <a:tab pos="9039860" algn="l"/>
                <a:tab pos="9237980" algn="l"/>
              </a:tabLst>
            </a:pPr>
            <a:endParaRPr lang="sv-SE" sz="1800" dirty="0"/>
          </a:p>
          <a:p>
            <a:pPr marL="12700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tabLst>
                <a:tab pos="160655" algn="l"/>
                <a:tab pos="932815" algn="l"/>
                <a:tab pos="1838325" algn="l"/>
                <a:tab pos="2652395" algn="l"/>
                <a:tab pos="3460750" algn="l"/>
                <a:tab pos="3698240" algn="l"/>
                <a:tab pos="4774565" algn="l"/>
                <a:tab pos="5741035" algn="l"/>
                <a:tab pos="6536690" algn="l"/>
                <a:tab pos="6896100" algn="l"/>
                <a:tab pos="7664450" algn="l"/>
                <a:tab pos="9039860" algn="l"/>
                <a:tab pos="9237980" algn="l"/>
              </a:tabLst>
            </a:pPr>
            <a:endParaRPr lang="sv-SE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04383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Kori</a:t>
            </a:r>
            <a:r>
              <a:rPr lang="sr-Latn-RS" sz="4000" b="1" spc="-9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šćene tehnike i tehnologije</a:t>
            </a:r>
            <a:endParaRPr sz="4000" b="1" spc="-70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" y="1157292"/>
            <a:ext cx="5943600" cy="26455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/>
              <a:t>Microsoft Azure </a:t>
            </a:r>
            <a:r>
              <a:rPr lang="en-US" b="1" dirty="0" err="1"/>
              <a:t>tehnologije</a:t>
            </a:r>
            <a:r>
              <a:rPr lang="en-US" dirty="0"/>
              <a:t>: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/>
              <a:t>Azure Cloud Service</a:t>
            </a:r>
            <a:r>
              <a:rPr lang="en-US" dirty="0"/>
              <a:t>: </a:t>
            </a:r>
            <a:r>
              <a:rPr lang="en-US" dirty="0" err="1"/>
              <a:t>Fleksibilno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skalabilno</a:t>
            </a:r>
            <a:r>
              <a:rPr lang="en-US" dirty="0"/>
              <a:t> </a:t>
            </a:r>
            <a:r>
              <a:rPr lang="en-US" dirty="0" err="1"/>
              <a:t>okruženje</a:t>
            </a:r>
            <a:r>
              <a:rPr lang="en-US" dirty="0"/>
              <a:t> za 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sr-Latn-RS" dirty="0"/>
              <a:t> (Web/</a:t>
            </a:r>
            <a:r>
              <a:rPr lang="sr-Latn-RS" dirty="0" err="1"/>
              <a:t>Worker</a:t>
            </a:r>
            <a:r>
              <a:rPr lang="sr-Latn-RS" dirty="0"/>
              <a:t> role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Virtuelne</a:t>
            </a:r>
            <a:r>
              <a:rPr lang="en-US" dirty="0"/>
              <a:t> </a:t>
            </a:r>
            <a:r>
              <a:rPr lang="en-US" dirty="0" err="1"/>
              <a:t>masine</a:t>
            </a:r>
            <a:r>
              <a:rPr lang="sr-Latn-RS" dirty="0"/>
              <a:t>).</a:t>
            </a:r>
            <a:endParaRPr lang="en-US" b="1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b="1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/>
              <a:t>Azure Storage Service</a:t>
            </a:r>
            <a:r>
              <a:rPr lang="en-US" dirty="0"/>
              <a:t>: </a:t>
            </a:r>
            <a:r>
              <a:rPr lang="en-US" dirty="0" err="1"/>
              <a:t>Sigurno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pouzdano</a:t>
            </a:r>
            <a:r>
              <a:rPr lang="en-US" dirty="0"/>
              <a:t>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(Blob Container, Queue, Table). Microsoft Azure Storage Explorer </a:t>
            </a:r>
            <a:r>
              <a:rPr lang="en-US" dirty="0" err="1"/>
              <a:t>kori</a:t>
            </a:r>
            <a:r>
              <a:rPr lang="sr-Latn-RS" dirty="0" err="1"/>
              <a:t>štena</a:t>
            </a:r>
            <a:r>
              <a:rPr lang="sr-Latn-RS" dirty="0"/>
              <a:t> baza podataka.</a:t>
            </a:r>
            <a:endParaRPr lang="en-US" dirty="0"/>
          </a:p>
          <a:p>
            <a:pPr marL="213360" lvl="1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tabLst>
                <a:tab pos="395605" algn="l"/>
              </a:tabLst>
            </a:pPr>
            <a:endParaRPr lang="en-US" dirty="0">
              <a:latin typeface="Carlito"/>
              <a:cs typeface="Carlito"/>
            </a:endParaRPr>
          </a:p>
        </p:txBody>
      </p:sp>
      <p:pic>
        <p:nvPicPr>
          <p:cNvPr id="11" name="Slika 10" descr="Slika na kojoj se nalazi tekst, snimak ekrana, Font, linija&#10;&#10;Opis je automatski generisan">
            <a:extLst>
              <a:ext uri="{FF2B5EF4-FFF2-40B4-BE49-F238E27FC236}">
                <a16:creationId xmlns:a16="http://schemas.microsoft.com/office/drawing/2014/main" id="{45FBAB04-8318-1E4F-BCD2-858E6BFB9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851" y="1157292"/>
            <a:ext cx="5233221" cy="2271708"/>
          </a:xfrm>
          <a:prstGeom prst="rect">
            <a:avLst/>
          </a:prstGeom>
        </p:spPr>
      </p:pic>
      <p:pic>
        <p:nvPicPr>
          <p:cNvPr id="13" name="Slika 12" descr="Slika na kojoj se nalazi tekst, snimak ekrana, broj, Font&#10;&#10;Opis je automatski generisan">
            <a:extLst>
              <a:ext uri="{FF2B5EF4-FFF2-40B4-BE49-F238E27FC236}">
                <a16:creationId xmlns:a16="http://schemas.microsoft.com/office/drawing/2014/main" id="{3196912A-2323-82D0-95BE-A99F2BF1E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502" y="3802887"/>
            <a:ext cx="5244570" cy="2521713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99CA62B8-4326-2858-E061-6F684CEAED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3" y="3793161"/>
            <a:ext cx="5244570" cy="2531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762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Korišćene</a:t>
            </a:r>
            <a:r>
              <a:rPr sz="4000" b="1" spc="-13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114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tehnike</a:t>
            </a:r>
            <a:r>
              <a:rPr sz="4000" b="1" spc="-13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i</a:t>
            </a:r>
            <a:r>
              <a:rPr sz="4000" b="1" spc="-11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tehnologije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31" y="1143000"/>
            <a:ext cx="5127063" cy="5688096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 err="1"/>
              <a:t>Emulatori</a:t>
            </a:r>
            <a:r>
              <a:rPr lang="en-US" b="1" dirty="0"/>
              <a:t> za </a:t>
            </a:r>
            <a:r>
              <a:rPr lang="en-US" b="1" dirty="0" err="1"/>
              <a:t>lokalno</a:t>
            </a:r>
            <a:r>
              <a:rPr lang="en-US" b="1" dirty="0"/>
              <a:t> </a:t>
            </a:r>
            <a:r>
              <a:rPr lang="en-US" b="1" dirty="0" err="1"/>
              <a:t>testiranje</a:t>
            </a:r>
            <a:r>
              <a:rPr lang="en-US" dirty="0"/>
              <a:t>: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tabLst>
                <a:tab pos="160655" algn="l"/>
              </a:tabLst>
            </a:pPr>
            <a:endParaRPr lang="en-US" dirty="0">
              <a:latin typeface="Carlito"/>
              <a:cs typeface="Carlito"/>
            </a:endParaRP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/>
              <a:t>Azure Compute Emulator</a:t>
            </a:r>
            <a:r>
              <a:rPr lang="en-US" dirty="0"/>
              <a:t>: </a:t>
            </a:r>
            <a:r>
              <a:rPr lang="en-US" dirty="0" err="1"/>
              <a:t>Simulira</a:t>
            </a:r>
            <a:r>
              <a:rPr lang="en-US" dirty="0"/>
              <a:t> Azure Cloud </a:t>
            </a:r>
            <a:r>
              <a:rPr lang="en-US" dirty="0" err="1"/>
              <a:t>okruženje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Web </a:t>
            </a:r>
            <a:r>
              <a:rPr lang="en-US" dirty="0" err="1"/>
              <a:t>i</a:t>
            </a:r>
            <a:r>
              <a:rPr lang="en-US" dirty="0"/>
              <a:t> Worker role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/>
              <a:t>raspoređene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Azure.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/>
              <a:t>Azure Storage Emulator</a:t>
            </a:r>
            <a:r>
              <a:rPr lang="en-US" dirty="0"/>
              <a:t>: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Azure </a:t>
            </a:r>
            <a:r>
              <a:rPr lang="en-US" dirty="0" err="1"/>
              <a:t>skladišne</a:t>
            </a:r>
            <a:r>
              <a:rPr lang="en-US" dirty="0"/>
              <a:t> </a:t>
            </a:r>
            <a:r>
              <a:rPr lang="en-US" dirty="0" err="1"/>
              <a:t>servise</a:t>
            </a:r>
            <a:r>
              <a:rPr lang="en-US" dirty="0"/>
              <a:t> (Blob, Table, Queue)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pravim</a:t>
            </a:r>
            <a:r>
              <a:rPr lang="en-US" dirty="0"/>
              <a:t> Azure Storage </a:t>
            </a:r>
            <a:r>
              <a:rPr lang="en-US" dirty="0" err="1"/>
              <a:t>okruženjem</a:t>
            </a: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dirty="0">
              <a:latin typeface="Carlito"/>
              <a:cs typeface="Carlito"/>
            </a:endParaRP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dirty="0" err="1"/>
              <a:t>Ukratko</a:t>
            </a:r>
            <a:r>
              <a:rPr lang="en-US" dirty="0"/>
              <a:t>, </a:t>
            </a:r>
            <a:r>
              <a:rPr lang="en-US" b="1" dirty="0"/>
              <a:t>Compute Emulator</a:t>
            </a:r>
            <a:r>
              <a:rPr lang="en-US" dirty="0"/>
              <a:t> je </a:t>
            </a:r>
            <a:r>
              <a:rPr lang="en-US" dirty="0" err="1"/>
              <a:t>fokusiran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simulaciju</a:t>
            </a:r>
            <a:r>
              <a:rPr lang="en-US" dirty="0"/>
              <a:t> </a:t>
            </a:r>
            <a:r>
              <a:rPr lang="en-US" dirty="0" err="1"/>
              <a:t>računarskih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uloga</a:t>
            </a:r>
            <a:r>
              <a:rPr lang="en-US" dirty="0"/>
              <a:t> (roles), </a:t>
            </a:r>
            <a:r>
              <a:rPr lang="en-US" dirty="0" err="1"/>
              <a:t>dok</a:t>
            </a:r>
            <a:r>
              <a:rPr lang="en-US" dirty="0"/>
              <a:t> je </a:t>
            </a:r>
            <a:r>
              <a:rPr lang="en-US" b="1" dirty="0"/>
              <a:t>Storage Emulator</a:t>
            </a:r>
            <a:r>
              <a:rPr lang="en-US" dirty="0"/>
              <a:t> </a:t>
            </a:r>
            <a:r>
              <a:rPr lang="en-US" dirty="0" err="1"/>
              <a:t>fokusiran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simulaciju</a:t>
            </a:r>
            <a:r>
              <a:rPr lang="en-US" dirty="0"/>
              <a:t> Azure </a:t>
            </a:r>
            <a:r>
              <a:rPr lang="en-US" dirty="0" err="1"/>
              <a:t>skladišnih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(Blob, Table, Queue). Obe </a:t>
            </a:r>
            <a:r>
              <a:rPr lang="en-US" dirty="0" err="1"/>
              <a:t>alatke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Azure </a:t>
            </a:r>
            <a:r>
              <a:rPr lang="en-US" dirty="0" err="1"/>
              <a:t>aplikacija</a:t>
            </a:r>
            <a:r>
              <a:rPr lang="en-US" dirty="0"/>
              <a:t> bez </a:t>
            </a:r>
            <a:r>
              <a:rPr lang="en-US" dirty="0" err="1"/>
              <a:t>direktne</a:t>
            </a:r>
            <a:r>
              <a:rPr lang="en-US" dirty="0"/>
              <a:t> </a:t>
            </a:r>
            <a:r>
              <a:rPr lang="en-US" dirty="0" err="1"/>
              <a:t>veze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pravim</a:t>
            </a:r>
            <a:r>
              <a:rPr lang="en-US" dirty="0"/>
              <a:t> Azure </a:t>
            </a:r>
            <a:r>
              <a:rPr lang="en-US" dirty="0" err="1"/>
              <a:t>okruženjem</a:t>
            </a:r>
            <a:r>
              <a:rPr lang="en-US" dirty="0"/>
              <a:t>.</a:t>
            </a:r>
            <a:endParaRPr lang="en-US" dirty="0">
              <a:latin typeface="Carlito"/>
              <a:cs typeface="Carlito"/>
            </a:endParaRPr>
          </a:p>
          <a:p>
            <a:pPr marL="160655" indent="-147955">
              <a:lnSpc>
                <a:spcPct val="100000"/>
              </a:lnSpc>
              <a:spcBef>
                <a:spcPts val="1015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800" dirty="0">
              <a:latin typeface="Carlito"/>
              <a:cs typeface="Carlito"/>
            </a:endParaRPr>
          </a:p>
        </p:txBody>
      </p:sp>
      <p:pic>
        <p:nvPicPr>
          <p:cNvPr id="9" name="Slika 8" descr="Slika na kojoj se nalazi tekst, snimak ekrana, računar, softver&#10;&#10;Opis je automatski generisan">
            <a:extLst>
              <a:ext uri="{FF2B5EF4-FFF2-40B4-BE49-F238E27FC236}">
                <a16:creationId xmlns:a16="http://schemas.microsoft.com/office/drawing/2014/main" id="{D14BBF44-5B25-9598-DCEA-AC4E898A83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118" y="1078791"/>
            <a:ext cx="6468882" cy="2569746"/>
          </a:xfrm>
          <a:prstGeom prst="rect">
            <a:avLst/>
          </a:prstGeom>
        </p:spPr>
      </p:pic>
      <p:pic>
        <p:nvPicPr>
          <p:cNvPr id="11" name="Slika 10" descr="Slika na kojoj se nalazi tekst, elektronika, snimak ekrana, softver&#10;&#10;Opis je automatski generisan">
            <a:extLst>
              <a:ext uri="{FF2B5EF4-FFF2-40B4-BE49-F238E27FC236}">
                <a16:creationId xmlns:a16="http://schemas.microsoft.com/office/drawing/2014/main" id="{D13B69AA-3E4E-30FC-73FB-47ECBF92F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810000"/>
            <a:ext cx="6545082" cy="256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09607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Specifikacija</a:t>
            </a:r>
            <a:r>
              <a:rPr sz="4000" b="1" spc="-8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6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sp>
        <p:nvSpPr>
          <p:cNvPr id="8" name="Okvir za tekst 7">
            <a:extLst>
              <a:ext uri="{FF2B5EF4-FFF2-40B4-BE49-F238E27FC236}">
                <a16:creationId xmlns:a16="http://schemas.microsoft.com/office/drawing/2014/main" id="{B16A016A-CE7F-164F-57D7-83EDFC764F01}"/>
              </a:ext>
            </a:extLst>
          </p:cNvPr>
          <p:cNvSpPr txBox="1"/>
          <p:nvPr/>
        </p:nvSpPr>
        <p:spPr>
          <a:xfrm>
            <a:off x="0" y="838200"/>
            <a:ext cx="6001859" cy="479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 err="1"/>
              <a:t>Ideja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dirty="0"/>
              <a:t>: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za </a:t>
            </a:r>
            <a:r>
              <a:rPr lang="en-US" dirty="0" err="1"/>
              <a:t>pravljenje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forumskih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komentara</a:t>
            </a:r>
            <a:r>
              <a:rPr lang="en-US" dirty="0"/>
              <a:t>, </a:t>
            </a:r>
            <a:r>
              <a:rPr lang="en-US" dirty="0" err="1"/>
              <a:t>sličnog</a:t>
            </a:r>
            <a:r>
              <a:rPr lang="en-US" dirty="0"/>
              <a:t> Reddit-u.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tabLst>
                <a:tab pos="160655" algn="l"/>
              </a:tabLst>
            </a:pPr>
            <a:endParaRPr lang="en-US" dirty="0">
              <a:latin typeface="Carlito"/>
              <a:cs typeface="Carlito"/>
            </a:endParaRP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 err="1"/>
              <a:t>Ključne</a:t>
            </a:r>
            <a:r>
              <a:rPr lang="en-US" b="1" dirty="0"/>
              <a:t> </a:t>
            </a:r>
            <a:r>
              <a:rPr lang="en-US" b="1" dirty="0" err="1"/>
              <a:t>komponente</a:t>
            </a:r>
            <a:r>
              <a:rPr lang="en-US" dirty="0"/>
              <a:t>:</a:t>
            </a:r>
            <a:endParaRPr lang="en-US" dirty="0">
              <a:latin typeface="Carlito"/>
            </a:endParaRP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dirty="0">
              <a:latin typeface="Carlito"/>
              <a:cs typeface="Carlito"/>
            </a:endParaRP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 err="1"/>
              <a:t>WebRole</a:t>
            </a:r>
            <a:r>
              <a:rPr lang="en-US" b="1" dirty="0"/>
              <a:t> Services</a:t>
            </a:r>
            <a:r>
              <a:rPr lang="en-US" dirty="0"/>
              <a:t>: </a:t>
            </a:r>
            <a:r>
              <a:rPr lang="en-US" dirty="0" err="1"/>
              <a:t>Korisnički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 za </a:t>
            </a:r>
            <a:r>
              <a:rPr lang="en-US" dirty="0" err="1"/>
              <a:t>registraciju</a:t>
            </a:r>
            <a:r>
              <a:rPr lang="en-US" dirty="0"/>
              <a:t>, </a:t>
            </a:r>
            <a:r>
              <a:rPr lang="en-US" dirty="0" err="1"/>
              <a:t>logovanje</a:t>
            </a:r>
            <a:r>
              <a:rPr lang="en-US" dirty="0"/>
              <a:t>, </a:t>
            </a:r>
            <a:r>
              <a:rPr lang="en-US" dirty="0" err="1"/>
              <a:t>kreiranje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komentara</a:t>
            </a:r>
            <a:r>
              <a:rPr lang="en-US" dirty="0"/>
              <a:t>, </a:t>
            </a:r>
            <a:r>
              <a:rPr lang="en-US" dirty="0" err="1"/>
              <a:t>pretragu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sortiranje</a:t>
            </a:r>
            <a:r>
              <a:rPr lang="en-US" dirty="0"/>
              <a:t>, Upvote/Downvote </a:t>
            </a:r>
            <a:r>
              <a:rPr lang="en-US" dirty="0" err="1"/>
              <a:t>funkcionalnosti</a:t>
            </a:r>
            <a:r>
              <a:rPr lang="en-US" dirty="0"/>
              <a:t>. </a:t>
            </a:r>
            <a:r>
              <a:rPr lang="en-US" dirty="0" err="1"/>
              <a:t>Registracija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unosom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: Ime, </a:t>
            </a:r>
            <a:r>
              <a:rPr lang="en-US" dirty="0" err="1"/>
              <a:t>Prezime</a:t>
            </a:r>
            <a:r>
              <a:rPr lang="en-US" dirty="0"/>
              <a:t>, </a:t>
            </a:r>
            <a:r>
              <a:rPr lang="en-US" dirty="0" err="1"/>
              <a:t>Adresa</a:t>
            </a:r>
            <a:r>
              <a:rPr lang="en-US" dirty="0"/>
              <a:t>, Grad, </a:t>
            </a:r>
            <a:r>
              <a:rPr lang="en-US" dirty="0" err="1"/>
              <a:t>Država</a:t>
            </a:r>
            <a:r>
              <a:rPr lang="en-US" dirty="0"/>
              <a:t>,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telefona</a:t>
            </a:r>
            <a:r>
              <a:rPr lang="en-US" dirty="0"/>
              <a:t>, Email, </a:t>
            </a:r>
            <a:r>
              <a:rPr lang="en-US" dirty="0" err="1"/>
              <a:t>Lozinka</a:t>
            </a:r>
            <a:r>
              <a:rPr lang="en-US" dirty="0"/>
              <a:t>, </a:t>
            </a:r>
            <a:r>
              <a:rPr lang="en-US" dirty="0" err="1"/>
              <a:t>Slika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.</a:t>
            </a:r>
            <a:r>
              <a:rPr lang="sr-Latn-RS" dirty="0"/>
              <a:t> Logovanje korisnika sa Email i Lozinkom.</a:t>
            </a: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dirty="0"/>
          </a:p>
          <a:p>
            <a:pPr marL="213360" lvl="3">
              <a:spcBef>
                <a:spcPts val="200"/>
              </a:spcBef>
              <a:buClr>
                <a:srgbClr val="7B7B7B"/>
              </a:buClr>
              <a:tabLst>
                <a:tab pos="395605" algn="l"/>
              </a:tabLst>
            </a:pPr>
            <a:endParaRPr lang="en-US" dirty="0"/>
          </a:p>
          <a:p>
            <a:pPr marL="213360" lvl="3">
              <a:spcBef>
                <a:spcPts val="200"/>
              </a:spcBef>
              <a:buClr>
                <a:srgbClr val="7B7B7B"/>
              </a:buClr>
              <a:tabLst>
                <a:tab pos="395605" algn="l"/>
              </a:tabLst>
            </a:pPr>
            <a:endParaRPr lang="en-US" dirty="0"/>
          </a:p>
          <a:p>
            <a:pPr marL="213360" lvl="3">
              <a:spcBef>
                <a:spcPts val="200"/>
              </a:spcBef>
              <a:buClr>
                <a:srgbClr val="7B7B7B"/>
              </a:buClr>
              <a:tabLst>
                <a:tab pos="395605" algn="l"/>
              </a:tabLst>
            </a:pPr>
            <a:endParaRPr lang="en-US" dirty="0"/>
          </a:p>
          <a:p>
            <a:pPr marL="213360" lvl="3">
              <a:spcBef>
                <a:spcPts val="200"/>
              </a:spcBef>
              <a:buClr>
                <a:srgbClr val="7B7B7B"/>
              </a:buClr>
              <a:tabLst>
                <a:tab pos="395605" algn="l"/>
              </a:tabLst>
            </a:pPr>
            <a:endParaRPr lang="en-US" dirty="0"/>
          </a:p>
        </p:txBody>
      </p:sp>
      <p:pic>
        <p:nvPicPr>
          <p:cNvPr id="18" name="Slika 17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EFC4820F-E49A-6BF9-FEDA-15858906F2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992878"/>
            <a:ext cx="5528230" cy="2636522"/>
          </a:xfrm>
          <a:prstGeom prst="rect">
            <a:avLst/>
          </a:prstGeom>
        </p:spPr>
      </p:pic>
      <p:pic>
        <p:nvPicPr>
          <p:cNvPr id="4" name="Slika 3" descr="Slika na kojoj se nalazi snimak ekrana, softver, tekst, Multimedijski softver&#10;&#10;Opis je automatski generisan">
            <a:extLst>
              <a:ext uri="{FF2B5EF4-FFF2-40B4-BE49-F238E27FC236}">
                <a16:creationId xmlns:a16="http://schemas.microsoft.com/office/drawing/2014/main" id="{7F397E59-43AD-53D9-03D2-0C47A9B086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28" y="4151409"/>
            <a:ext cx="5241372" cy="2477991"/>
          </a:xfrm>
          <a:prstGeom prst="rect">
            <a:avLst/>
          </a:prstGeom>
        </p:spPr>
      </p:pic>
      <p:pic>
        <p:nvPicPr>
          <p:cNvPr id="6" name="Slika 5" descr="Slika na kojoj se nalazi tekst, snimak ekrana, dijagram, Plan&#10;&#10;Opis je automatski generisan">
            <a:extLst>
              <a:ext uri="{FF2B5EF4-FFF2-40B4-BE49-F238E27FC236}">
                <a16:creationId xmlns:a16="http://schemas.microsoft.com/office/drawing/2014/main" id="{3A439242-6973-7BE3-C4C1-67A361FA0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528" y="838200"/>
            <a:ext cx="5518502" cy="3017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" y="-79128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Specifikacija</a:t>
            </a:r>
            <a:r>
              <a:rPr sz="4000" b="1" spc="-8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6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sp>
        <p:nvSpPr>
          <p:cNvPr id="13" name="Okvir za tekst 12">
            <a:extLst>
              <a:ext uri="{FF2B5EF4-FFF2-40B4-BE49-F238E27FC236}">
                <a16:creationId xmlns:a16="http://schemas.microsoft.com/office/drawing/2014/main" id="{FA0C066C-9F72-F33F-5168-3C66C75CCDC4}"/>
              </a:ext>
            </a:extLst>
          </p:cNvPr>
          <p:cNvSpPr txBox="1"/>
          <p:nvPr/>
        </p:nvSpPr>
        <p:spPr>
          <a:xfrm>
            <a:off x="0" y="838200"/>
            <a:ext cx="5986476" cy="333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 err="1"/>
              <a:t>WorkerRole</a:t>
            </a:r>
            <a:r>
              <a:rPr lang="en-US" b="1" dirty="0"/>
              <a:t> Services</a:t>
            </a:r>
            <a:r>
              <a:rPr lang="en-US" dirty="0"/>
              <a:t>:</a:t>
            </a:r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dirty="0">
              <a:latin typeface="Carlito"/>
              <a:cs typeface="Carlito"/>
            </a:endParaRP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 err="1"/>
              <a:t>RedditService</a:t>
            </a:r>
            <a:r>
              <a:rPr lang="en-US" dirty="0"/>
              <a:t>: </a:t>
            </a:r>
            <a:r>
              <a:rPr lang="en-US" dirty="0" err="1"/>
              <a:t>Obrada</a:t>
            </a:r>
            <a:r>
              <a:rPr lang="en-US" dirty="0"/>
              <a:t> </a:t>
            </a:r>
            <a:r>
              <a:rPr lang="en-US" dirty="0" err="1"/>
              <a:t>korisničkih</a:t>
            </a:r>
            <a:r>
              <a:rPr lang="en-US" dirty="0"/>
              <a:t> </a:t>
            </a:r>
            <a:r>
              <a:rPr lang="en-US" dirty="0" err="1"/>
              <a:t>zahteva</a:t>
            </a:r>
            <a:r>
              <a:rPr lang="en-US" dirty="0"/>
              <a:t>, </a:t>
            </a:r>
            <a:r>
              <a:rPr lang="en-US" dirty="0" err="1"/>
              <a:t>pozadinske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,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bazu</a:t>
            </a:r>
            <a:r>
              <a:rPr lang="en-US" dirty="0"/>
              <a:t>.</a:t>
            </a:r>
          </a:p>
          <a:p>
            <a:pPr marL="213360" lvl="1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tabLst>
                <a:tab pos="395605" algn="l"/>
              </a:tabLst>
            </a:pP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 err="1"/>
              <a:t>NotificationService</a:t>
            </a:r>
            <a:r>
              <a:rPr lang="en-US" dirty="0"/>
              <a:t>: </a:t>
            </a:r>
            <a:r>
              <a:rPr lang="en-US" dirty="0" err="1"/>
              <a:t>Slanje</a:t>
            </a:r>
            <a:r>
              <a:rPr lang="en-US" dirty="0"/>
              <a:t> email </a:t>
            </a:r>
            <a:r>
              <a:rPr lang="en-US" dirty="0" err="1"/>
              <a:t>notifikacija</a:t>
            </a:r>
            <a:r>
              <a:rPr lang="en-US" dirty="0"/>
              <a:t> </a:t>
            </a:r>
            <a:r>
              <a:rPr lang="en-US" dirty="0" err="1"/>
              <a:t>pretplaćenim</a:t>
            </a:r>
            <a:r>
              <a:rPr lang="en-US" dirty="0"/>
              <a:t> </a:t>
            </a:r>
            <a:r>
              <a:rPr lang="en-US" dirty="0" err="1"/>
              <a:t>korisnicima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postavljanju</a:t>
            </a:r>
            <a:r>
              <a:rPr lang="en-US" dirty="0"/>
              <a:t> </a:t>
            </a:r>
            <a:r>
              <a:rPr lang="en-US" dirty="0" err="1"/>
              <a:t>novih</a:t>
            </a:r>
            <a:r>
              <a:rPr lang="en-US" dirty="0"/>
              <a:t> </a:t>
            </a:r>
            <a:r>
              <a:rPr lang="en-US" dirty="0" err="1"/>
              <a:t>komentara</a:t>
            </a:r>
            <a:r>
              <a:rPr lang="en-US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it-IT" b="1" dirty="0"/>
              <a:t>HealthMonitoringService</a:t>
            </a:r>
            <a:r>
              <a:rPr lang="it-IT" dirty="0"/>
              <a:t>: Provera dostupnosti sistema i slanje obaveštenja administratorima.</a:t>
            </a: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en-US" dirty="0"/>
          </a:p>
        </p:txBody>
      </p:sp>
      <p:pic>
        <p:nvPicPr>
          <p:cNvPr id="21" name="Slika 20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7231D059-66C2-CCDC-1310-0899C3DD15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597" y="3969434"/>
            <a:ext cx="5257803" cy="2583766"/>
          </a:xfrm>
          <a:prstGeom prst="rect">
            <a:avLst/>
          </a:prstGeom>
        </p:spPr>
      </p:pic>
      <p:pic>
        <p:nvPicPr>
          <p:cNvPr id="23" name="Slika 22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7A92AE37-13F9-0D56-92DB-9138DA9FA9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598" y="1182084"/>
            <a:ext cx="5257802" cy="2475516"/>
          </a:xfrm>
          <a:prstGeom prst="rect">
            <a:avLst/>
          </a:prstGeom>
        </p:spPr>
      </p:pic>
      <p:pic>
        <p:nvPicPr>
          <p:cNvPr id="3" name="Slika 2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D7FD9C82-5417-86B0-6186-45E1F37911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4" y="3969435"/>
            <a:ext cx="5541166" cy="2583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79128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Specifikacija</a:t>
            </a:r>
            <a:r>
              <a:rPr lang="en-US" sz="4000" b="1" spc="-8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6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sp>
        <p:nvSpPr>
          <p:cNvPr id="11" name="Okvir za tekst 10">
            <a:extLst>
              <a:ext uri="{FF2B5EF4-FFF2-40B4-BE49-F238E27FC236}">
                <a16:creationId xmlns:a16="http://schemas.microsoft.com/office/drawing/2014/main" id="{637792F2-05F6-E35E-E0D4-1FD02E2E616C}"/>
              </a:ext>
            </a:extLst>
          </p:cNvPr>
          <p:cNvSpPr txBox="1"/>
          <p:nvPr/>
        </p:nvSpPr>
        <p:spPr>
          <a:xfrm>
            <a:off x="0" y="1114405"/>
            <a:ext cx="6096000" cy="505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/>
              <a:t>Tok </a:t>
            </a:r>
            <a:r>
              <a:rPr lang="en-US" b="1" dirty="0" err="1"/>
              <a:t>podataka</a:t>
            </a:r>
            <a:r>
              <a:rPr lang="en-US" dirty="0"/>
              <a:t>: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tabLst>
                <a:tab pos="160655" algn="l"/>
              </a:tabLst>
            </a:pPr>
            <a:endParaRPr lang="en-US" dirty="0">
              <a:latin typeface="Carlito"/>
              <a:cs typeface="Carlito"/>
            </a:endParaRP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 err="1"/>
              <a:t>WebRole</a:t>
            </a:r>
            <a:r>
              <a:rPr lang="en-US" dirty="0"/>
              <a:t>: Prima </a:t>
            </a:r>
            <a:r>
              <a:rPr lang="en-US" dirty="0" err="1"/>
              <a:t>korisničke</a:t>
            </a:r>
            <a:r>
              <a:rPr lang="en-US" dirty="0"/>
              <a:t> </a:t>
            </a:r>
            <a:r>
              <a:rPr lang="en-US" dirty="0" err="1"/>
              <a:t>zahteve</a:t>
            </a:r>
            <a:r>
              <a:rPr lang="en-US" dirty="0"/>
              <a:t>,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korisnički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pl-PL" b="1" dirty="0"/>
              <a:t>RedditService</a:t>
            </a:r>
            <a:r>
              <a:rPr lang="pl-PL" dirty="0"/>
              <a:t>: Obrada pozadinskih zadataka, skladištenje podataka u bazu.</a:t>
            </a:r>
            <a:endParaRPr lang="en-U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 err="1"/>
              <a:t>NotificationService</a:t>
            </a:r>
            <a:r>
              <a:rPr lang="en-US" dirty="0"/>
              <a:t>: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o </a:t>
            </a:r>
            <a:r>
              <a:rPr lang="en-US" dirty="0" err="1"/>
              <a:t>komentarima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slanje</a:t>
            </a:r>
            <a:r>
              <a:rPr lang="en-US" dirty="0"/>
              <a:t> email </a:t>
            </a:r>
            <a:r>
              <a:rPr lang="en-US" dirty="0" err="1"/>
              <a:t>obaveštenja</a:t>
            </a:r>
            <a:r>
              <a:rPr lang="en-US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it-IT" b="1" dirty="0"/>
              <a:t>HealthMonitoringService</a:t>
            </a:r>
            <a:r>
              <a:rPr lang="it-IT" dirty="0"/>
              <a:t>: Redovna provera dostupnosti servisa i beleženje statusa – SignalR.</a:t>
            </a:r>
            <a:endParaRPr lang="sr-Latn-RS" dirty="0"/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endParaRPr lang="it-IT" dirty="0"/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b="1" dirty="0" err="1"/>
              <a:t>Ostale</a:t>
            </a:r>
            <a:r>
              <a:rPr lang="en-US" b="1" dirty="0"/>
              <a:t> </a:t>
            </a:r>
            <a:r>
              <a:rPr lang="en-US" b="1" dirty="0" err="1"/>
              <a:t>komponente</a:t>
            </a:r>
            <a:r>
              <a:rPr lang="en-US" dirty="0"/>
              <a:t>:</a:t>
            </a:r>
            <a:endParaRPr lang="en-US" dirty="0">
              <a:latin typeface="Carlito"/>
              <a:cs typeface="Carlito"/>
            </a:endParaRP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 err="1"/>
              <a:t>AdminTools</a:t>
            </a:r>
            <a:r>
              <a:rPr lang="en-US" dirty="0"/>
              <a:t>: </a:t>
            </a:r>
            <a:r>
              <a:rPr lang="en-US" dirty="0" err="1"/>
              <a:t>Konzolna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za </a:t>
            </a:r>
            <a:r>
              <a:rPr lang="en-US" dirty="0" err="1"/>
              <a:t>administratore</a:t>
            </a:r>
            <a:r>
              <a:rPr lang="en-US" dirty="0"/>
              <a:t>,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SignalR</a:t>
            </a:r>
            <a:r>
              <a:rPr lang="en-US" dirty="0"/>
              <a:t> za real-time </a:t>
            </a:r>
            <a:r>
              <a:rPr lang="en-US" dirty="0" err="1"/>
              <a:t>obaveštavanje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u </a:t>
            </a:r>
            <a:r>
              <a:rPr lang="en-US" dirty="0" err="1"/>
              <a:t>slu</a:t>
            </a:r>
            <a:r>
              <a:rPr lang="sr-Latn-RS" dirty="0"/>
              <a:t>čaju pada nekog od servisa</a:t>
            </a:r>
            <a:r>
              <a:rPr lang="en-US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b="1" dirty="0"/>
              <a:t>Common</a:t>
            </a:r>
            <a:r>
              <a:rPr lang="en-US" dirty="0"/>
              <a:t>: Class Library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zajedničkim</a:t>
            </a:r>
            <a:r>
              <a:rPr lang="en-US" dirty="0"/>
              <a:t> </a:t>
            </a:r>
            <a:r>
              <a:rPr lang="en-US" dirty="0" err="1"/>
              <a:t>komponentama</a:t>
            </a:r>
            <a:r>
              <a:rPr lang="en-US" dirty="0"/>
              <a:t> za rad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</p:txBody>
      </p:sp>
      <p:pic>
        <p:nvPicPr>
          <p:cNvPr id="4" name="Slika 3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B18E3135-4D84-1AAE-7664-75B9612309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066800"/>
            <a:ext cx="5387163" cy="2740025"/>
          </a:xfrm>
          <a:prstGeom prst="rect">
            <a:avLst/>
          </a:prstGeom>
        </p:spPr>
      </p:pic>
      <p:pic>
        <p:nvPicPr>
          <p:cNvPr id="6" name="Slika 5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626E81C9-12CC-7C24-8B22-41EC1E0206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962400"/>
            <a:ext cx="5387163" cy="2740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39351"/>
            <a:ext cx="12191999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110" dirty="0" err="1">
                <a:solidFill>
                  <a:schemeClr val="accent1">
                    <a:lumMod val="75000"/>
                  </a:schemeClr>
                </a:solidFill>
              </a:rPr>
              <a:t>Prikaz</a:t>
            </a:r>
            <a:r>
              <a:rPr lang="en-US" sz="4000" b="1" spc="-15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spc="-100" dirty="0" err="1">
                <a:solidFill>
                  <a:schemeClr val="accent1">
                    <a:lumMod val="75000"/>
                  </a:schemeClr>
                </a:solidFill>
              </a:rPr>
              <a:t>implementiranog</a:t>
            </a:r>
            <a:r>
              <a:rPr lang="en-US" sz="4000" b="1" spc="-114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spc="-25" dirty="0" err="1">
                <a:solidFill>
                  <a:schemeClr val="accent1">
                    <a:lumMod val="75000"/>
                  </a:schemeClr>
                </a:solidFill>
              </a:rPr>
              <a:t>sistema</a:t>
            </a:r>
            <a:endParaRPr lang="en-US" sz="4000" b="1" spc="-25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Slika 12" descr="Slika na kojoj se nalazi tekst, snimak ekrana, ekran, računar&#10;&#10;Opis je automatski generisan">
            <a:extLst>
              <a:ext uri="{FF2B5EF4-FFF2-40B4-BE49-F238E27FC236}">
                <a16:creationId xmlns:a16="http://schemas.microsoft.com/office/drawing/2014/main" id="{99A11AAD-49FF-966F-29AE-703AE645B0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35870"/>
            <a:ext cx="5791200" cy="2774130"/>
          </a:xfrm>
          <a:prstGeom prst="rect">
            <a:avLst/>
          </a:prstGeom>
        </p:spPr>
      </p:pic>
      <p:pic>
        <p:nvPicPr>
          <p:cNvPr id="16" name="Slika 15" descr="Slika na kojoj se nalazi tekst, snimak ekrana, ekran, softver&#10;&#10;Opis je automatski generisan">
            <a:extLst>
              <a:ext uri="{FF2B5EF4-FFF2-40B4-BE49-F238E27FC236}">
                <a16:creationId xmlns:a16="http://schemas.microsoft.com/office/drawing/2014/main" id="{8E2DC15D-F1B0-D5FA-7070-40A158FFE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35870"/>
            <a:ext cx="5943600" cy="2774130"/>
          </a:xfrm>
          <a:prstGeom prst="rect">
            <a:avLst/>
          </a:prstGeom>
        </p:spPr>
      </p:pic>
      <p:pic>
        <p:nvPicPr>
          <p:cNvPr id="18" name="Slika 17" descr="Slika na kojoj se nalazi tekst, softver, Ikona na računaru, Veb stranica&#10;&#10;Opis je automatski generisan">
            <a:extLst>
              <a:ext uri="{FF2B5EF4-FFF2-40B4-BE49-F238E27FC236}">
                <a16:creationId xmlns:a16="http://schemas.microsoft.com/office/drawing/2014/main" id="{75DC4778-1401-F5B1-E5D9-5E70C19C8E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962400"/>
            <a:ext cx="5791200" cy="2514600"/>
          </a:xfrm>
          <a:prstGeom prst="rect">
            <a:avLst/>
          </a:prstGeom>
        </p:spPr>
      </p:pic>
      <p:pic>
        <p:nvPicPr>
          <p:cNvPr id="20" name="Slika 19" descr="Slika na kojoj se nalazi tekst, snimak ekrana, broj, softver&#10;&#10;Opis je automatski generisan">
            <a:extLst>
              <a:ext uri="{FF2B5EF4-FFF2-40B4-BE49-F238E27FC236}">
                <a16:creationId xmlns:a16="http://schemas.microsoft.com/office/drawing/2014/main" id="{000006BB-B403-A894-35D3-EDB41C1DF5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62400"/>
            <a:ext cx="5943600" cy="2514600"/>
          </a:xfrm>
          <a:prstGeom prst="rect">
            <a:avLst/>
          </a:prstGeom>
        </p:spPr>
      </p:pic>
      <p:sp>
        <p:nvSpPr>
          <p:cNvPr id="21" name="Okvir za tekst 20">
            <a:extLst>
              <a:ext uri="{FF2B5EF4-FFF2-40B4-BE49-F238E27FC236}">
                <a16:creationId xmlns:a16="http://schemas.microsoft.com/office/drawing/2014/main" id="{F3506FB4-D332-8CBA-72F7-8023949AE805}"/>
              </a:ext>
            </a:extLst>
          </p:cNvPr>
          <p:cNvSpPr txBox="1"/>
          <p:nvPr/>
        </p:nvSpPr>
        <p:spPr>
          <a:xfrm>
            <a:off x="0" y="634157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AdminTools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konzolna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aplikacija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286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110" dirty="0">
                <a:solidFill>
                  <a:schemeClr val="accent1">
                    <a:lumMod val="75000"/>
                  </a:schemeClr>
                </a:solidFill>
              </a:rPr>
              <a:t>Prikaz</a:t>
            </a:r>
            <a:r>
              <a:rPr sz="4000" b="1" spc="-15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z="4000" b="1" spc="-100" dirty="0" err="1">
                <a:solidFill>
                  <a:schemeClr val="accent1">
                    <a:lumMod val="75000"/>
                  </a:schemeClr>
                </a:solidFill>
              </a:rPr>
              <a:t>implementiranog</a:t>
            </a:r>
            <a:r>
              <a:rPr sz="4000" b="1" spc="-114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spc="-25" dirty="0" err="1">
                <a:solidFill>
                  <a:schemeClr val="accent1">
                    <a:lumMod val="75000"/>
                  </a:schemeClr>
                </a:solidFill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Slika 11" descr="Slika na kojoj se nalazi tekst, snimak ekrana, softver, voda&#10;&#10;Opis je automatski generisan">
            <a:extLst>
              <a:ext uri="{FF2B5EF4-FFF2-40B4-BE49-F238E27FC236}">
                <a16:creationId xmlns:a16="http://schemas.microsoft.com/office/drawing/2014/main" id="{2D8B2FB0-F180-EBEE-0440-173EB6929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284" y="916275"/>
            <a:ext cx="5890259" cy="3046125"/>
          </a:xfrm>
          <a:prstGeom prst="rect">
            <a:avLst/>
          </a:prstGeom>
        </p:spPr>
      </p:pic>
      <p:pic>
        <p:nvPicPr>
          <p:cNvPr id="14" name="Slika 13" descr="Slika na kojoj se nalazi tekst, snimak ekrana, softver, Ikona na računaru&#10;&#10;Opis je automatski generisan">
            <a:extLst>
              <a:ext uri="{FF2B5EF4-FFF2-40B4-BE49-F238E27FC236}">
                <a16:creationId xmlns:a16="http://schemas.microsoft.com/office/drawing/2014/main" id="{E8342968-DF2C-CAF7-60F1-AC4EC81844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7" y="3505200"/>
            <a:ext cx="5938521" cy="2971800"/>
          </a:xfrm>
          <a:prstGeom prst="rect">
            <a:avLst/>
          </a:prstGeom>
        </p:spPr>
      </p:pic>
      <p:sp>
        <p:nvSpPr>
          <p:cNvPr id="16" name="Okvir za tekst 15">
            <a:extLst>
              <a:ext uri="{FF2B5EF4-FFF2-40B4-BE49-F238E27FC236}">
                <a16:creationId xmlns:a16="http://schemas.microsoft.com/office/drawing/2014/main" id="{947B8962-E3F0-38E8-5F76-37E844070A98}"/>
              </a:ext>
            </a:extLst>
          </p:cNvPr>
          <p:cNvSpPr txBox="1"/>
          <p:nvPr/>
        </p:nvSpPr>
        <p:spPr>
          <a:xfrm>
            <a:off x="0" y="54694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Login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Registration </a:t>
            </a:r>
            <a:r>
              <a:rPr lang="en-US" dirty="0" err="1">
                <a:solidFill>
                  <a:srgbClr val="0070C0"/>
                </a:solidFill>
              </a:rPr>
              <a:t>stranica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2" name="Slika 21" descr="Slika na kojoj se nalazi tekst, snimak ekrana, softver, računar&#10;&#10;Opis je automatski generisan">
            <a:extLst>
              <a:ext uri="{FF2B5EF4-FFF2-40B4-BE49-F238E27FC236}">
                <a16:creationId xmlns:a16="http://schemas.microsoft.com/office/drawing/2014/main" id="{5CC914EF-8098-6F3F-84FA-52B4CA37C4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6275"/>
            <a:ext cx="5875018" cy="2491409"/>
          </a:xfrm>
          <a:prstGeom prst="rect">
            <a:avLst/>
          </a:prstGeom>
        </p:spPr>
      </p:pic>
      <p:pic>
        <p:nvPicPr>
          <p:cNvPr id="24" name="Slika 23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E1C17593-2DC6-3455-0BA8-4A45F8A70E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283" y="4038600"/>
            <a:ext cx="5890259" cy="2438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20446"/>
            <a:ext cx="12192000" cy="902683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11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Prikaz</a:t>
            </a:r>
            <a:r>
              <a:rPr b="1" spc="-1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100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implementiranog</a:t>
            </a:r>
            <a:r>
              <a:rPr b="1" spc="-114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b="1" spc="-2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7160" y="6473952"/>
            <a:ext cx="210820" cy="274320"/>
            <a:chOff x="137160" y="6473952"/>
            <a:chExt cx="210820" cy="274320"/>
          </a:xfrm>
        </p:grpSpPr>
        <p:sp>
          <p:nvSpPr>
            <p:cNvPr id="7" name="object 7"/>
            <p:cNvSpPr/>
            <p:nvPr/>
          </p:nvSpPr>
          <p:spPr>
            <a:xfrm>
              <a:off x="144780" y="6481572"/>
              <a:ext cx="195580" cy="259079"/>
            </a:xfrm>
            <a:custGeom>
              <a:avLst/>
              <a:gdLst/>
              <a:ahLst/>
              <a:cxnLst/>
              <a:rect l="l" t="t" r="r" b="b"/>
              <a:pathLst>
                <a:path w="195579" h="259079">
                  <a:moveTo>
                    <a:pt x="97535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97535" y="259079"/>
                  </a:lnTo>
                  <a:lnTo>
                    <a:pt x="195072" y="129539"/>
                  </a:lnTo>
                  <a:lnTo>
                    <a:pt x="9753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780" y="6481572"/>
              <a:ext cx="195580" cy="259079"/>
            </a:xfrm>
            <a:custGeom>
              <a:avLst/>
              <a:gdLst/>
              <a:ahLst/>
              <a:cxnLst/>
              <a:rect l="l" t="t" r="r" b="b"/>
              <a:pathLst>
                <a:path w="195579" h="259079">
                  <a:moveTo>
                    <a:pt x="0" y="0"/>
                  </a:moveTo>
                  <a:lnTo>
                    <a:pt x="97535" y="0"/>
                  </a:lnTo>
                  <a:lnTo>
                    <a:pt x="195072" y="129539"/>
                  </a:lnTo>
                  <a:lnTo>
                    <a:pt x="97535" y="259079"/>
                  </a:lnTo>
                  <a:lnTo>
                    <a:pt x="0" y="25907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A1A1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kvir za tekst 9">
            <a:extLst>
              <a:ext uri="{FF2B5EF4-FFF2-40B4-BE49-F238E27FC236}">
                <a16:creationId xmlns:a16="http://schemas.microsoft.com/office/drawing/2014/main" id="{77FD2997-AA18-6F1A-B8DF-FA555101EDF6}"/>
              </a:ext>
            </a:extLst>
          </p:cNvPr>
          <p:cNvSpPr txBox="1"/>
          <p:nvPr/>
        </p:nvSpPr>
        <p:spPr>
          <a:xfrm>
            <a:off x="0" y="6212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Profile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Home-Reddit </a:t>
            </a:r>
            <a:r>
              <a:rPr lang="en-US" dirty="0" err="1">
                <a:solidFill>
                  <a:srgbClr val="0070C0"/>
                </a:solidFill>
              </a:rPr>
              <a:t>stranica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2" name="Slika 11" descr="Slika na kojoj se nalazi tekst, snimak ekrana, softver, Ikona na računaru&#10;&#10;Opis je automatski generisan">
            <a:extLst>
              <a:ext uri="{FF2B5EF4-FFF2-40B4-BE49-F238E27FC236}">
                <a16:creationId xmlns:a16="http://schemas.microsoft.com/office/drawing/2014/main" id="{AF804F05-B0E8-0660-6B3A-93D11C1344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" y="990600"/>
            <a:ext cx="5859780" cy="2971800"/>
          </a:xfrm>
          <a:prstGeom prst="rect">
            <a:avLst/>
          </a:prstGeom>
        </p:spPr>
      </p:pic>
      <p:pic>
        <p:nvPicPr>
          <p:cNvPr id="14" name="Slika 13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933D2283-EAFE-8079-63D0-A20DEC0515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" y="4038601"/>
            <a:ext cx="5859780" cy="2442971"/>
          </a:xfrm>
          <a:prstGeom prst="rect">
            <a:avLst/>
          </a:prstGeom>
        </p:spPr>
      </p:pic>
      <p:pic>
        <p:nvPicPr>
          <p:cNvPr id="16" name="Slika 15" descr="Slika na kojoj se nalazi tekst, snimak ekrana, ekran, softver&#10;&#10;Opis je automatski generisan">
            <a:extLst>
              <a:ext uri="{FF2B5EF4-FFF2-40B4-BE49-F238E27FC236}">
                <a16:creationId xmlns:a16="http://schemas.microsoft.com/office/drawing/2014/main" id="{C849C3DF-C085-7D8B-35EB-44679749B3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0601"/>
            <a:ext cx="5965190" cy="2514600"/>
          </a:xfrm>
          <a:prstGeom prst="rect">
            <a:avLst/>
          </a:prstGeom>
        </p:spPr>
      </p:pic>
      <p:pic>
        <p:nvPicPr>
          <p:cNvPr id="22" name="Slika 21" descr="Slika na kojoj se nalazi tekst, softver, Veb stranica, Vebsajt&#10;&#10;Opis je automatski generisan">
            <a:extLst>
              <a:ext uri="{FF2B5EF4-FFF2-40B4-BE49-F238E27FC236}">
                <a16:creationId xmlns:a16="http://schemas.microsoft.com/office/drawing/2014/main" id="{F198E82D-1961-637D-0331-87D78D0F94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410" y="3581400"/>
            <a:ext cx="5965190" cy="2900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1986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11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Prikaz</a:t>
            </a:r>
            <a:r>
              <a:rPr sz="4000" b="1" spc="-1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100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implementiranog</a:t>
            </a:r>
            <a:r>
              <a:rPr sz="4000" b="1" spc="-114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2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pic>
        <p:nvPicPr>
          <p:cNvPr id="10" name="Slika 9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89DB7F34-0756-DC26-CA8A-E769258F69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2" y="914400"/>
            <a:ext cx="5972297" cy="2971800"/>
          </a:xfrm>
          <a:prstGeom prst="rect">
            <a:avLst/>
          </a:prstGeom>
        </p:spPr>
      </p:pic>
      <p:pic>
        <p:nvPicPr>
          <p:cNvPr id="12" name="Slika 11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7711B1E8-0D26-74CF-F1C8-629372D36C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914401"/>
            <a:ext cx="5896098" cy="2590800"/>
          </a:xfrm>
          <a:prstGeom prst="rect">
            <a:avLst/>
          </a:prstGeom>
        </p:spPr>
      </p:pic>
      <p:pic>
        <p:nvPicPr>
          <p:cNvPr id="14" name="Slika 13" descr="Slika na kojoj se nalazi tekst, snimak ekrana, softver, Ikona na računaru&#10;&#10;Opis je automatski generisan">
            <a:extLst>
              <a:ext uri="{FF2B5EF4-FFF2-40B4-BE49-F238E27FC236}">
                <a16:creationId xmlns:a16="http://schemas.microsoft.com/office/drawing/2014/main" id="{919DE16D-CD6D-01E0-8F92-D31524C904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9" y="3962400"/>
            <a:ext cx="5951219" cy="2517528"/>
          </a:xfrm>
          <a:prstGeom prst="rect">
            <a:avLst/>
          </a:prstGeom>
        </p:spPr>
      </p:pic>
      <p:pic>
        <p:nvPicPr>
          <p:cNvPr id="16" name="Slika 15" descr="Slika na kojoj se nalazi tekst, softver, Veb stranica, Ikona na računaru&#10;&#10;Opis je automatski generisan">
            <a:extLst>
              <a:ext uri="{FF2B5EF4-FFF2-40B4-BE49-F238E27FC236}">
                <a16:creationId xmlns:a16="http://schemas.microsoft.com/office/drawing/2014/main" id="{338A64A2-5CA0-94BD-5061-006A936976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3581400"/>
            <a:ext cx="5896097" cy="2895599"/>
          </a:xfrm>
          <a:prstGeom prst="rect">
            <a:avLst/>
          </a:prstGeom>
        </p:spPr>
      </p:pic>
      <p:sp>
        <p:nvSpPr>
          <p:cNvPr id="17" name="Okvir za tekst 16">
            <a:extLst>
              <a:ext uri="{FF2B5EF4-FFF2-40B4-BE49-F238E27FC236}">
                <a16:creationId xmlns:a16="http://schemas.microsoft.com/office/drawing/2014/main" id="{EDCBB039-1B5C-157A-9724-2A2D740E793D}"/>
              </a:ext>
            </a:extLst>
          </p:cNvPr>
          <p:cNvSpPr txBox="1"/>
          <p:nvPr/>
        </p:nvSpPr>
        <p:spPr>
          <a:xfrm>
            <a:off x="0" y="56455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Prikaz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vezan</a:t>
            </a:r>
            <a:r>
              <a:rPr lang="en-US" dirty="0">
                <a:solidFill>
                  <a:srgbClr val="0070C0"/>
                </a:solidFill>
              </a:rPr>
              <a:t> za Home-Reddit </a:t>
            </a:r>
            <a:r>
              <a:rPr lang="en-US" dirty="0" err="1">
                <a:solidFill>
                  <a:srgbClr val="0070C0"/>
                </a:solidFill>
              </a:rPr>
              <a:t>stranicu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17432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110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Prikaz</a:t>
            </a:r>
            <a:r>
              <a:rPr lang="en-US" sz="4000" b="1" spc="-1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100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implementiranog</a:t>
            </a:r>
            <a:r>
              <a:rPr lang="en-US" sz="4000" b="1" spc="-114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2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lang="en-US" sz="4000"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pic>
        <p:nvPicPr>
          <p:cNvPr id="10" name="Slika 9" descr="Slika na kojoj se nalazi tekst, snimak ekrana, softver, Veb stranica&#10;&#10;Opis je automatski generisan">
            <a:extLst>
              <a:ext uri="{FF2B5EF4-FFF2-40B4-BE49-F238E27FC236}">
                <a16:creationId xmlns:a16="http://schemas.microsoft.com/office/drawing/2014/main" id="{F7CAB901-B124-40E8-22D7-975671CBA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1" y="914400"/>
            <a:ext cx="5875020" cy="2819400"/>
          </a:xfrm>
          <a:prstGeom prst="rect">
            <a:avLst/>
          </a:prstGeom>
        </p:spPr>
      </p:pic>
      <p:pic>
        <p:nvPicPr>
          <p:cNvPr id="14" name="Slika 13" descr="Slika na kojoj se nalazi tekst, softver, Ikona na računaru, Veb stranica&#10;&#10;Opis je automatski generisan">
            <a:extLst>
              <a:ext uri="{FF2B5EF4-FFF2-40B4-BE49-F238E27FC236}">
                <a16:creationId xmlns:a16="http://schemas.microsoft.com/office/drawing/2014/main" id="{C88BA3A1-3337-4F33-7AA2-D1CCC56804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914400"/>
            <a:ext cx="5951219" cy="2819400"/>
          </a:xfrm>
          <a:prstGeom prst="rect">
            <a:avLst/>
          </a:prstGeom>
        </p:spPr>
      </p:pic>
      <p:pic>
        <p:nvPicPr>
          <p:cNvPr id="16" name="Slika 15" descr="Slika na kojoj se nalazi tekst, softver, Ikona na računaru, Veb stranica&#10;&#10;Opis je automatski generisan">
            <a:extLst>
              <a:ext uri="{FF2B5EF4-FFF2-40B4-BE49-F238E27FC236}">
                <a16:creationId xmlns:a16="http://schemas.microsoft.com/office/drawing/2014/main" id="{F7F46CC1-D116-4463-1F5C-21A2C91654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" y="3810000"/>
            <a:ext cx="5875021" cy="2667000"/>
          </a:xfrm>
          <a:prstGeom prst="rect">
            <a:avLst/>
          </a:prstGeom>
        </p:spPr>
      </p:pic>
      <p:pic>
        <p:nvPicPr>
          <p:cNvPr id="18" name="Slika 17" descr="Slika na kojoj se nalazi tekst, snimak ekrana, ekran, softver&#10;&#10;Opis je automatski generisan">
            <a:extLst>
              <a:ext uri="{FF2B5EF4-FFF2-40B4-BE49-F238E27FC236}">
                <a16:creationId xmlns:a16="http://schemas.microsoft.com/office/drawing/2014/main" id="{05BF5C36-3FE3-1E1F-DD53-80712E2AAE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3810000"/>
            <a:ext cx="5951219" cy="2667001"/>
          </a:xfrm>
          <a:prstGeom prst="rect">
            <a:avLst/>
          </a:prstGeom>
        </p:spPr>
      </p:pic>
      <p:sp>
        <p:nvSpPr>
          <p:cNvPr id="19" name="Okvir za tekst 18">
            <a:extLst>
              <a:ext uri="{FF2B5EF4-FFF2-40B4-BE49-F238E27FC236}">
                <a16:creationId xmlns:a16="http://schemas.microsoft.com/office/drawing/2014/main" id="{5E41B66F-26D9-B2C3-8495-E631ADEB6A5D}"/>
              </a:ext>
            </a:extLst>
          </p:cNvPr>
          <p:cNvSpPr txBox="1"/>
          <p:nvPr/>
        </p:nvSpPr>
        <p:spPr>
          <a:xfrm>
            <a:off x="0" y="55987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Prikaz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vezan</a:t>
            </a:r>
            <a:r>
              <a:rPr lang="en-US" dirty="0">
                <a:solidFill>
                  <a:srgbClr val="0070C0"/>
                </a:solidFill>
              </a:rPr>
              <a:t> za Home-Reddit </a:t>
            </a:r>
            <a:r>
              <a:rPr lang="en-US" dirty="0" err="1">
                <a:solidFill>
                  <a:srgbClr val="0070C0"/>
                </a:solidFill>
              </a:rPr>
              <a:t>stranicu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31528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110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Prikaz</a:t>
            </a:r>
            <a:r>
              <a:rPr sz="4000" b="1" spc="-1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100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implementiranog</a:t>
            </a:r>
            <a:r>
              <a:rPr sz="4000" b="1" spc="-114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2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pic>
        <p:nvPicPr>
          <p:cNvPr id="11" name="Slika 10" descr="Slika na kojoj se nalazi tekst, softver, Veb stranica, Vebsajt&#10;&#10;Opis je automatski generisan">
            <a:extLst>
              <a:ext uri="{FF2B5EF4-FFF2-40B4-BE49-F238E27FC236}">
                <a16:creationId xmlns:a16="http://schemas.microsoft.com/office/drawing/2014/main" id="{1F1A32D4-F7BA-BD40-524E-8A51BC95A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8" y="914400"/>
            <a:ext cx="5978782" cy="3048000"/>
          </a:xfrm>
          <a:prstGeom prst="rect">
            <a:avLst/>
          </a:prstGeom>
        </p:spPr>
      </p:pic>
      <p:pic>
        <p:nvPicPr>
          <p:cNvPr id="15" name="Slika 14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C874B785-3918-32FC-FF0B-E6EF51470E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914400"/>
            <a:ext cx="5902582" cy="3048000"/>
          </a:xfrm>
          <a:prstGeom prst="rect">
            <a:avLst/>
          </a:prstGeom>
        </p:spPr>
      </p:pic>
      <p:pic>
        <p:nvPicPr>
          <p:cNvPr id="17" name="Slika 16" descr="Slika na kojoj se nalazi tekst, softver, Veb stranica, Vebsajt&#10;&#10;Opis je automatski generisan">
            <a:extLst>
              <a:ext uri="{FF2B5EF4-FFF2-40B4-BE49-F238E27FC236}">
                <a16:creationId xmlns:a16="http://schemas.microsoft.com/office/drawing/2014/main" id="{AAF6C992-8061-AA74-C504-BC81D2DD1F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8" y="4038600"/>
            <a:ext cx="5978782" cy="2743200"/>
          </a:xfrm>
          <a:prstGeom prst="rect">
            <a:avLst/>
          </a:prstGeom>
        </p:spPr>
      </p:pic>
      <p:pic>
        <p:nvPicPr>
          <p:cNvPr id="19" name="Slika 18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427A30A8-71EC-254C-DDE2-5AFA00D58E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038600"/>
            <a:ext cx="5902582" cy="2743200"/>
          </a:xfrm>
          <a:prstGeom prst="rect">
            <a:avLst/>
          </a:prstGeom>
        </p:spPr>
      </p:pic>
      <p:sp>
        <p:nvSpPr>
          <p:cNvPr id="20" name="Okvir za tekst 19">
            <a:extLst>
              <a:ext uri="{FF2B5EF4-FFF2-40B4-BE49-F238E27FC236}">
                <a16:creationId xmlns:a16="http://schemas.microsoft.com/office/drawing/2014/main" id="{AC627F76-2137-B61A-3628-D2CBB078A4A4}"/>
              </a:ext>
            </a:extLst>
          </p:cNvPr>
          <p:cNvSpPr txBox="1"/>
          <p:nvPr/>
        </p:nvSpPr>
        <p:spPr>
          <a:xfrm>
            <a:off x="-76200" y="528033"/>
            <a:ext cx="1226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PostPage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stranica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31429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110" dirty="0">
                <a:solidFill>
                  <a:schemeClr val="accent1">
                    <a:lumMod val="75000"/>
                  </a:schemeClr>
                </a:solidFill>
              </a:rPr>
              <a:t>Prikaz</a:t>
            </a:r>
            <a:r>
              <a:rPr sz="4000" b="1" spc="-15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z="4000" b="1" spc="-100" dirty="0" err="1">
                <a:solidFill>
                  <a:schemeClr val="accent1">
                    <a:lumMod val="75000"/>
                  </a:schemeClr>
                </a:solidFill>
              </a:rPr>
              <a:t>implementiranog</a:t>
            </a:r>
            <a:r>
              <a:rPr sz="4000" b="1" spc="-114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spc="-25" dirty="0" err="1">
                <a:solidFill>
                  <a:schemeClr val="accent1">
                    <a:lumMod val="75000"/>
                  </a:schemeClr>
                </a:solidFill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Slika 10" descr="Slika na kojoj se nalazi tekst, snimak ekrana, računar, softver&#10;&#10;Opis je automatski generisan">
            <a:extLst>
              <a:ext uri="{FF2B5EF4-FFF2-40B4-BE49-F238E27FC236}">
                <a16:creationId xmlns:a16="http://schemas.microsoft.com/office/drawing/2014/main" id="{CFEC9A81-BFD0-857C-5FCF-670F18F742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29681"/>
            <a:ext cx="5638800" cy="2704119"/>
          </a:xfrm>
          <a:prstGeom prst="rect">
            <a:avLst/>
          </a:prstGeom>
        </p:spPr>
      </p:pic>
      <p:pic>
        <p:nvPicPr>
          <p:cNvPr id="13" name="Slika 12" descr="Slika na kojoj se nalazi tekst, softver, Ikona na računaru, Veb stranica&#10;&#10;Opis je automatski generisan">
            <a:extLst>
              <a:ext uri="{FF2B5EF4-FFF2-40B4-BE49-F238E27FC236}">
                <a16:creationId xmlns:a16="http://schemas.microsoft.com/office/drawing/2014/main" id="{06A260A3-3F20-D08B-AC98-05532CE513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849080"/>
            <a:ext cx="5638800" cy="2704120"/>
          </a:xfrm>
          <a:prstGeom prst="rect">
            <a:avLst/>
          </a:prstGeom>
        </p:spPr>
      </p:pic>
      <p:sp>
        <p:nvSpPr>
          <p:cNvPr id="14" name="Okvir za tekst 13">
            <a:extLst>
              <a:ext uri="{FF2B5EF4-FFF2-40B4-BE49-F238E27FC236}">
                <a16:creationId xmlns:a16="http://schemas.microsoft.com/office/drawing/2014/main" id="{C2AA8421-315B-044B-6B09-DBAE73C2B4F7}"/>
              </a:ext>
            </a:extLst>
          </p:cNvPr>
          <p:cNvSpPr txBox="1"/>
          <p:nvPr/>
        </p:nvSpPr>
        <p:spPr>
          <a:xfrm>
            <a:off x="0" y="60969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Prikaz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vezan</a:t>
            </a:r>
            <a:r>
              <a:rPr lang="en-US" dirty="0">
                <a:solidFill>
                  <a:srgbClr val="0070C0"/>
                </a:solidFill>
              </a:rPr>
              <a:t> za </a:t>
            </a:r>
            <a:r>
              <a:rPr lang="en-US" dirty="0" err="1">
                <a:solidFill>
                  <a:srgbClr val="0070C0"/>
                </a:solidFill>
              </a:rPr>
              <a:t>PostPage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stranicu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286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kvir za tekst 2">
            <a:extLst>
              <a:ext uri="{FF2B5EF4-FFF2-40B4-BE49-F238E27FC236}">
                <a16:creationId xmlns:a16="http://schemas.microsoft.com/office/drawing/2014/main" id="{B476CC6D-1AB9-C99E-1F13-7EF57E818D89}"/>
              </a:ext>
            </a:extLst>
          </p:cNvPr>
          <p:cNvSpPr txBox="1"/>
          <p:nvPr/>
        </p:nvSpPr>
        <p:spPr>
          <a:xfrm>
            <a:off x="0" y="69848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Implementacija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Detaljaniji</a:t>
            </a:r>
            <a:r>
              <a:rPr lang="en-US" dirty="0"/>
              <a:t> </a:t>
            </a:r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Platforma</a:t>
            </a:r>
            <a:r>
              <a:rPr lang="en-US" b="1" dirty="0"/>
              <a:t>:</a:t>
            </a:r>
            <a:r>
              <a:rPr lang="en-US" dirty="0"/>
              <a:t> Microsoft Visual Studio 2022 </a:t>
            </a:r>
            <a:r>
              <a:rPr lang="en-US" dirty="0" err="1"/>
              <a:t>kao</a:t>
            </a:r>
            <a:r>
              <a:rPr lang="en-US" dirty="0"/>
              <a:t> Azure Cloud Service (Extended Support).</a:t>
            </a:r>
          </a:p>
          <a:p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Komponente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WebRole</a:t>
            </a:r>
            <a:r>
              <a:rPr lang="en-US" dirty="0"/>
              <a:t>, </a:t>
            </a:r>
            <a:r>
              <a:rPr lang="en-US" dirty="0" err="1"/>
              <a:t>RedditService</a:t>
            </a:r>
            <a:r>
              <a:rPr lang="en-US" dirty="0"/>
              <a:t>, </a:t>
            </a:r>
            <a:r>
              <a:rPr lang="en-US" dirty="0" err="1"/>
              <a:t>NotificationService</a:t>
            </a:r>
            <a:r>
              <a:rPr lang="en-US" dirty="0"/>
              <a:t>, </a:t>
            </a:r>
            <a:r>
              <a:rPr lang="en-US" dirty="0" err="1"/>
              <a:t>HealthMonitoringService</a:t>
            </a:r>
            <a:r>
              <a:rPr lang="en-US" dirty="0"/>
              <a:t>, Common, </a:t>
            </a:r>
            <a:r>
              <a:rPr lang="en-US" dirty="0" err="1"/>
              <a:t>AdminTools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Reddit (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projekat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sr-Latn-R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Izvorni kod dostupan je na: </a:t>
            </a:r>
            <a:r>
              <a:rPr lang="sr-Latn-R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https://github.com/MastilovicRadoslav/Razvoj_CLOUD_aplikacija_UPM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Slika 6" descr="Slika na kojoj se nalazi tekst, snimak ekrana, Font, softver&#10;&#10;Opis je automatski generisan">
            <a:extLst>
              <a:ext uri="{FF2B5EF4-FFF2-40B4-BE49-F238E27FC236}">
                <a16:creationId xmlns:a16="http://schemas.microsoft.com/office/drawing/2014/main" id="{75885461-FDE1-2415-0257-F2159685B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1" y="3537744"/>
            <a:ext cx="4765790" cy="26344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524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kvir za tekst 2">
            <a:extLst>
              <a:ext uri="{FF2B5EF4-FFF2-40B4-BE49-F238E27FC236}">
                <a16:creationId xmlns:a16="http://schemas.microsoft.com/office/drawing/2014/main" id="{50D954F1-3AED-EFBD-DBAA-59751A7DE9D0}"/>
              </a:ext>
            </a:extLst>
          </p:cNvPr>
          <p:cNvSpPr txBox="1"/>
          <p:nvPr/>
        </p:nvSpPr>
        <p:spPr>
          <a:xfrm>
            <a:off x="0" y="688728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Opis</a:t>
            </a:r>
            <a:r>
              <a:rPr lang="en-US" dirty="0"/>
              <a:t>: </a:t>
            </a:r>
            <a:r>
              <a:rPr lang="en-US" dirty="0" err="1"/>
              <a:t>WebRole</a:t>
            </a:r>
            <a:r>
              <a:rPr lang="en-US" dirty="0"/>
              <a:t> </a:t>
            </a:r>
            <a:r>
              <a:rPr lang="en-US" dirty="0" err="1"/>
              <a:t>komponenta</a:t>
            </a:r>
            <a:r>
              <a:rPr lang="en-US" dirty="0"/>
              <a:t> je </a:t>
            </a:r>
            <a:r>
              <a:rPr lang="en-US" dirty="0" err="1"/>
              <a:t>implementirana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MVC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korisnički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komunicira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ostalim</a:t>
            </a:r>
            <a:r>
              <a:rPr lang="en-US" dirty="0"/>
              <a:t> </a:t>
            </a:r>
            <a:r>
              <a:rPr lang="en-US" dirty="0" err="1"/>
              <a:t>servisima</a:t>
            </a:r>
            <a:r>
              <a:rPr lang="en-US" dirty="0"/>
              <a:t>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Views folder: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Sad</a:t>
            </a:r>
            <a:r>
              <a:rPr lang="sr-Latn-R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rži sve .</a:t>
            </a:r>
            <a:r>
              <a:rPr lang="sr-Latn-R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cshtml</a:t>
            </a:r>
            <a:r>
              <a:rPr lang="sr-Latn-R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datoteke za prikaz korisničkog interfejsa.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Registration.cshtml</a:t>
            </a:r>
            <a:r>
              <a:rPr lang="en-US" dirty="0"/>
              <a:t>: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formu</a:t>
            </a:r>
            <a:r>
              <a:rPr lang="en-US" dirty="0"/>
              <a:t> za </a:t>
            </a:r>
            <a:r>
              <a:rPr lang="en-US" dirty="0" err="1"/>
              <a:t>registraciju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unos</a:t>
            </a:r>
            <a:r>
              <a:rPr lang="en-US" dirty="0"/>
              <a:t> </a:t>
            </a:r>
            <a:r>
              <a:rPr lang="en-US" dirty="0" err="1"/>
              <a:t>ličnih</a:t>
            </a:r>
            <a:r>
              <a:rPr lang="en-US" dirty="0"/>
              <a:t> 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en-US" dirty="0"/>
              <a:t>    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Login.cshtml</a:t>
            </a:r>
            <a:r>
              <a:rPr lang="en-US" dirty="0"/>
              <a:t>: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formu</a:t>
            </a:r>
            <a:r>
              <a:rPr lang="en-US" dirty="0"/>
              <a:t> za </a:t>
            </a:r>
            <a:r>
              <a:rPr lang="en-US" dirty="0" err="1"/>
              <a:t>prijavu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emaila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lozinke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ShowProfile.cshtml</a:t>
            </a:r>
            <a:r>
              <a:rPr lang="en-US" dirty="0"/>
              <a:t>: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izmenu</a:t>
            </a:r>
            <a:r>
              <a:rPr lang="en-US" dirty="0"/>
              <a:t> </a:t>
            </a:r>
            <a:r>
              <a:rPr lang="en-US" dirty="0" err="1"/>
              <a:t>korisničkog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prijave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Index.cshtml</a:t>
            </a:r>
            <a:r>
              <a:rPr lang="en-US" dirty="0"/>
              <a:t>: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početnu</a:t>
            </a:r>
            <a:r>
              <a:rPr lang="en-US" dirty="0"/>
              <a:t> </a:t>
            </a:r>
            <a:r>
              <a:rPr lang="en-US" dirty="0" err="1"/>
              <a:t>stranicu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listom</a:t>
            </a:r>
            <a:r>
              <a:rPr lang="en-US" dirty="0"/>
              <a:t> </a:t>
            </a:r>
            <a:r>
              <a:rPr lang="en-US" dirty="0" err="1"/>
              <a:t>postova</a:t>
            </a:r>
            <a:r>
              <a:rPr lang="en-US" dirty="0"/>
              <a:t>, </a:t>
            </a:r>
            <a:r>
              <a:rPr lang="en-US" dirty="0" err="1"/>
              <a:t>uključujući</a:t>
            </a:r>
            <a:r>
              <a:rPr lang="en-US" dirty="0"/>
              <a:t> "Moje </a:t>
            </a:r>
            <a:r>
              <a:rPr lang="en-US" dirty="0" err="1"/>
              <a:t>teme</a:t>
            </a:r>
            <a:r>
              <a:rPr lang="en-US" dirty="0"/>
              <a:t>", 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en-US" dirty="0"/>
              <a:t>     "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teme</a:t>
            </a:r>
            <a:r>
              <a:rPr lang="en-US" dirty="0"/>
              <a:t>“ </a:t>
            </a:r>
            <a:r>
              <a:rPr lang="en-US" dirty="0" err="1"/>
              <a:t>i</a:t>
            </a:r>
            <a:r>
              <a:rPr lang="en-US" dirty="0"/>
              <a:t> "</a:t>
            </a:r>
            <a:r>
              <a:rPr lang="en-US" dirty="0" err="1"/>
              <a:t>Omiljene</a:t>
            </a:r>
            <a:r>
              <a:rPr lang="en-US" dirty="0"/>
              <a:t> </a:t>
            </a:r>
            <a:r>
              <a:rPr lang="en-US" dirty="0" err="1"/>
              <a:t>teme</a:t>
            </a:r>
            <a:r>
              <a:rPr lang="en-US" dirty="0"/>
              <a:t>".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PostPage.cshtml</a:t>
            </a:r>
            <a:r>
              <a:rPr lang="en-US" dirty="0"/>
              <a:t>: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detalje</a:t>
            </a:r>
            <a:r>
              <a:rPr lang="en-US" dirty="0"/>
              <a:t> </a:t>
            </a:r>
            <a:r>
              <a:rPr lang="en-US" dirty="0" err="1"/>
              <a:t>pojedinačnog</a:t>
            </a:r>
            <a:r>
              <a:rPr lang="en-US" dirty="0"/>
              <a:t> </a:t>
            </a:r>
            <a:r>
              <a:rPr lang="en-US" dirty="0" err="1"/>
              <a:t>posta</a:t>
            </a:r>
            <a:r>
              <a:rPr lang="en-US" dirty="0"/>
              <a:t>,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komentarisanje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r>
              <a:rPr lang="en-US" dirty="0"/>
              <a:t>    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lajkovima</a:t>
            </a:r>
            <a:r>
              <a:rPr lang="en-US" dirty="0"/>
              <a:t>/</a:t>
            </a:r>
            <a:r>
              <a:rPr lang="en-US" dirty="0" err="1"/>
              <a:t>dislajkovima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stranice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CSS </a:t>
            </a:r>
            <a:r>
              <a:rPr lang="en-US" dirty="0" err="1"/>
              <a:t>datoteke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b="1" dirty="0"/>
              <a:t>Content</a:t>
            </a:r>
            <a:r>
              <a:rPr lang="en-US" dirty="0"/>
              <a:t> </a:t>
            </a:r>
            <a:r>
              <a:rPr lang="en-US" dirty="0" err="1"/>
              <a:t>foldera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JavaScript </a:t>
            </a:r>
            <a:r>
              <a:rPr lang="en-US" dirty="0" err="1"/>
              <a:t>datoteke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b="1" dirty="0"/>
              <a:t>Scripts</a:t>
            </a:r>
          </a:p>
          <a:p>
            <a:r>
              <a:rPr lang="en-US" dirty="0" err="1"/>
              <a:t>foldera</a:t>
            </a:r>
            <a:r>
              <a:rPr lang="en-US" dirty="0"/>
              <a:t> za </a:t>
            </a:r>
            <a:r>
              <a:rPr lang="en-US" dirty="0" err="1"/>
              <a:t>stilizaciju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funkcionalnost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Slika 7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4B101F7F-BA27-8267-34AB-F009FD25A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1143000"/>
            <a:ext cx="2598619" cy="2819400"/>
          </a:xfrm>
          <a:prstGeom prst="rect">
            <a:avLst/>
          </a:prstGeom>
        </p:spPr>
      </p:pic>
      <p:pic>
        <p:nvPicPr>
          <p:cNvPr id="13" name="Slika 12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E9C872A6-533B-83B0-613F-5F0ACFB3D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159" y="4000246"/>
            <a:ext cx="2598618" cy="24767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2400" y="-1524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pic>
        <p:nvPicPr>
          <p:cNvPr id="4" name="Slika 3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4EF5656E-0BD8-54F1-7698-5E9F6717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762000"/>
            <a:ext cx="3429000" cy="3578472"/>
          </a:xfrm>
          <a:prstGeom prst="rect">
            <a:avLst/>
          </a:prstGeom>
        </p:spPr>
      </p:pic>
      <p:sp>
        <p:nvSpPr>
          <p:cNvPr id="5" name="Okvir za tekst 4">
            <a:extLst>
              <a:ext uri="{FF2B5EF4-FFF2-40B4-BE49-F238E27FC236}">
                <a16:creationId xmlns:a16="http://schemas.microsoft.com/office/drawing/2014/main" id="{50DA23F8-BFB8-CD71-994B-FA772EAE7556}"/>
              </a:ext>
            </a:extLst>
          </p:cNvPr>
          <p:cNvSpPr txBox="1"/>
          <p:nvPr/>
        </p:nvSpPr>
        <p:spPr>
          <a:xfrm>
            <a:off x="0" y="762000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RegistrationController</a:t>
            </a:r>
            <a:r>
              <a:rPr lang="en-US" dirty="0"/>
              <a:t>: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registracijom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,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LoginController</a:t>
            </a:r>
            <a:r>
              <a:rPr lang="en-US" dirty="0"/>
              <a:t>: </a:t>
            </a:r>
            <a:r>
              <a:rPr lang="en-US" dirty="0" err="1"/>
              <a:t>Autentifikacija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, </a:t>
            </a:r>
            <a:r>
              <a:rPr lang="en-US" dirty="0" err="1"/>
              <a:t>validacija</a:t>
            </a:r>
            <a:r>
              <a:rPr lang="en-US" dirty="0"/>
              <a:t> </a:t>
            </a:r>
            <a:r>
              <a:rPr lang="en-US" dirty="0" err="1"/>
              <a:t>lozinke</a:t>
            </a:r>
            <a:r>
              <a:rPr lang="en-US" dirty="0"/>
              <a:t>,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ProfileController</a:t>
            </a:r>
            <a:r>
              <a:rPr lang="en-US" b="1" dirty="0"/>
              <a:t>: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en-US" dirty="0" err="1"/>
              <a:t>izmena</a:t>
            </a:r>
            <a:r>
              <a:rPr lang="en-US" dirty="0"/>
              <a:t> </a:t>
            </a:r>
            <a:r>
              <a:rPr lang="en-US" dirty="0" err="1"/>
              <a:t>korisni</a:t>
            </a:r>
            <a:r>
              <a:rPr lang="sr-Latn-RS" dirty="0" err="1"/>
              <a:t>čkog</a:t>
            </a:r>
            <a:r>
              <a:rPr lang="sr-Latn-RS" dirty="0"/>
              <a:t> profila, rad sa </a:t>
            </a:r>
            <a:r>
              <a:rPr lang="sr-Latn-RS" dirty="0" err="1"/>
              <a:t>UserService</a:t>
            </a:r>
            <a:endParaRPr lang="sr-Latn-R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PostPageController</a:t>
            </a:r>
            <a:r>
              <a:rPr lang="en-US" dirty="0"/>
              <a:t>: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prikazom</a:t>
            </a:r>
            <a:r>
              <a:rPr lang="en-US" dirty="0"/>
              <a:t> </a:t>
            </a:r>
            <a:r>
              <a:rPr lang="en-US" dirty="0" err="1"/>
              <a:t>pojedinačnih</a:t>
            </a:r>
            <a:r>
              <a:rPr lang="en-US" dirty="0"/>
              <a:t> </a:t>
            </a:r>
            <a:r>
              <a:rPr lang="en-US" dirty="0" err="1"/>
              <a:t>postova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obradom</a:t>
            </a:r>
            <a:r>
              <a:rPr lang="en-US" dirty="0"/>
              <a:t> </a:t>
            </a:r>
            <a:r>
              <a:rPr lang="en-US" dirty="0" err="1"/>
              <a:t>komentara</a:t>
            </a:r>
            <a:r>
              <a:rPr lang="en-US" dirty="0"/>
              <a:t>.</a:t>
            </a:r>
            <a:endParaRPr lang="sr-Latn-RS" dirty="0"/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n-US" dirty="0"/>
              <a:t>								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CommentService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PostService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Slika 7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60E3B952-BC4F-6F12-604C-23FE93C8D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424136"/>
            <a:ext cx="4724400" cy="533400"/>
          </a:xfrm>
          <a:prstGeom prst="rect">
            <a:avLst/>
          </a:prstGeom>
        </p:spPr>
      </p:pic>
      <p:pic>
        <p:nvPicPr>
          <p:cNvPr id="16" name="Slika 15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B32BFA62-63CB-58B5-D205-47FF1F0271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974728"/>
            <a:ext cx="3581400" cy="3426072"/>
          </a:xfrm>
          <a:prstGeom prst="rect">
            <a:avLst/>
          </a:prstGeom>
        </p:spPr>
      </p:pic>
      <p:pic>
        <p:nvPicPr>
          <p:cNvPr id="20" name="Slika 19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0D532E13-7897-109D-1CAF-FBB0C3F70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438" y="4413744"/>
            <a:ext cx="8257162" cy="1987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76200" y="-152400"/>
            <a:ext cx="122682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sz="4000" b="1" spc="-25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</p:txBody>
      </p:sp>
      <p:sp>
        <p:nvSpPr>
          <p:cNvPr id="3" name="Okvir za tekst 2">
            <a:extLst>
              <a:ext uri="{FF2B5EF4-FFF2-40B4-BE49-F238E27FC236}">
                <a16:creationId xmlns:a16="http://schemas.microsoft.com/office/drawing/2014/main" id="{7097DC46-227A-8A59-CE41-35F0EA9A6ABD}"/>
              </a:ext>
            </a:extLst>
          </p:cNvPr>
          <p:cNvSpPr txBox="1"/>
          <p:nvPr/>
        </p:nvSpPr>
        <p:spPr>
          <a:xfrm>
            <a:off x="0" y="688728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HomeController</a:t>
            </a:r>
            <a:r>
              <a:rPr lang="en-US" b="1" dirty="0"/>
              <a:t>: </a:t>
            </a:r>
            <a:r>
              <a:rPr lang="en-US" dirty="0" err="1"/>
              <a:t>Centralni</a:t>
            </a:r>
            <a:r>
              <a:rPr lang="en-US" dirty="0"/>
              <a:t> deo </a:t>
            </a:r>
            <a:r>
              <a:rPr lang="en-US" dirty="0" err="1"/>
              <a:t>aplikacije</a:t>
            </a:r>
            <a:r>
              <a:rPr lang="en-US" dirty="0"/>
              <a:t>,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postova</a:t>
            </a:r>
            <a:r>
              <a:rPr lang="en-US" dirty="0"/>
              <a:t> u </a:t>
            </a:r>
            <a:r>
              <a:rPr lang="en-US" dirty="0" err="1"/>
              <a:t>razli</a:t>
            </a:r>
            <a:r>
              <a:rPr lang="sr-Latn-RS" dirty="0" err="1"/>
              <a:t>čitim</a:t>
            </a:r>
            <a:r>
              <a:rPr lang="sr-Latn-RS" dirty="0"/>
              <a:t> listama</a:t>
            </a:r>
            <a:r>
              <a:rPr lang="en-US" dirty="0"/>
              <a:t>, </a:t>
            </a:r>
            <a:r>
              <a:rPr lang="en-US" dirty="0" err="1"/>
              <a:t>pretraga</a:t>
            </a:r>
            <a:r>
              <a:rPr lang="en-US" dirty="0"/>
              <a:t>, </a:t>
            </a:r>
            <a:r>
              <a:rPr lang="en-US" dirty="0" err="1"/>
              <a:t>sortiranje</a:t>
            </a:r>
            <a:r>
              <a:rPr lang="en-US" dirty="0"/>
              <a:t> i </a:t>
            </a:r>
            <a:r>
              <a:rPr lang="en-US" dirty="0" err="1"/>
              <a:t>dodavanje</a:t>
            </a:r>
            <a:r>
              <a:rPr lang="en-US" dirty="0"/>
              <a:t> u </a:t>
            </a:r>
            <a:r>
              <a:rPr lang="en-US" dirty="0" err="1"/>
              <a:t>omiljene</a:t>
            </a:r>
            <a:r>
              <a:rPr lang="sr-Latn-RS" dirty="0"/>
              <a:t> kao i klik na otvaranje postova</a:t>
            </a:r>
            <a:r>
              <a:rPr lang="en-US" dirty="0"/>
              <a:t>, TCP </a:t>
            </a:r>
            <a:r>
              <a:rPr lang="en-US" dirty="0" err="1"/>
              <a:t>veze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PostService</a:t>
            </a:r>
            <a:r>
              <a:rPr lang="en-US" dirty="0"/>
              <a:t>, </a:t>
            </a:r>
            <a:r>
              <a:rPr lang="en-US" dirty="0" err="1"/>
              <a:t>CommentService</a:t>
            </a:r>
            <a:r>
              <a:rPr lang="en-US" dirty="0"/>
              <a:t> i </a:t>
            </a:r>
            <a:r>
              <a:rPr lang="en-US" dirty="0" err="1"/>
              <a:t>FavouritesService</a:t>
            </a:r>
            <a:r>
              <a:rPr lang="en-US" dirty="0"/>
              <a:t>.</a:t>
            </a:r>
            <a:endParaRPr lang="en-US" b="1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Svi </a:t>
            </a:r>
            <a:r>
              <a:rPr lang="en-US" dirty="0" err="1"/>
              <a:t>kontroleri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univerzalni</a:t>
            </a:r>
            <a:r>
              <a:rPr lang="en-US" dirty="0"/>
              <a:t> </a:t>
            </a:r>
            <a:r>
              <a:rPr lang="en-US" dirty="0" err="1"/>
              <a:t>ServiceConnector</a:t>
            </a:r>
            <a:r>
              <a:rPr lang="en-US" dirty="0"/>
              <a:t> za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, </a:t>
            </a:r>
            <a:r>
              <a:rPr lang="en-US" dirty="0" err="1"/>
              <a:t>PostService</a:t>
            </a:r>
            <a:r>
              <a:rPr lang="en-US" dirty="0"/>
              <a:t>, </a:t>
            </a:r>
            <a:r>
              <a:rPr lang="en-US" dirty="0" err="1"/>
              <a:t>CommentService</a:t>
            </a:r>
            <a:r>
              <a:rPr lang="en-US" dirty="0"/>
              <a:t>, </a:t>
            </a:r>
            <a:r>
              <a:rPr lang="sr-Latn-RS" dirty="0"/>
              <a:t>i     </a:t>
            </a:r>
            <a:r>
              <a:rPr lang="en-US" dirty="0" err="1"/>
              <a:t>FavouritesService</a:t>
            </a:r>
            <a:r>
              <a:rPr lang="en-US" dirty="0"/>
              <a:t>.</a:t>
            </a:r>
          </a:p>
        </p:txBody>
      </p:sp>
      <p:pic>
        <p:nvPicPr>
          <p:cNvPr id="7" name="Slika 6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6C4E28BD-B11D-A7F1-F3E8-91DC6BDEA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393332"/>
            <a:ext cx="6172200" cy="1920406"/>
          </a:xfrm>
          <a:prstGeom prst="rect">
            <a:avLst/>
          </a:prstGeom>
        </p:spPr>
      </p:pic>
      <p:pic>
        <p:nvPicPr>
          <p:cNvPr id="9" name="Slika 8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EF74A152-D9E7-091C-255D-06B9370B4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572314"/>
            <a:ext cx="5825856" cy="3980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38783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pic>
        <p:nvPicPr>
          <p:cNvPr id="6" name="Slika 5" descr="Slika na kojoj se nalazi tekst, snimak ekrana, meni&#10;&#10;Opis je automatski generisan">
            <a:extLst>
              <a:ext uri="{FF2B5EF4-FFF2-40B4-BE49-F238E27FC236}">
                <a16:creationId xmlns:a16="http://schemas.microsoft.com/office/drawing/2014/main" id="{EE61F943-5E34-E09E-04EE-9701F0E51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143000"/>
            <a:ext cx="2312769" cy="3704630"/>
          </a:xfrm>
          <a:prstGeom prst="rect">
            <a:avLst/>
          </a:prstGeom>
        </p:spPr>
      </p:pic>
      <p:sp>
        <p:nvSpPr>
          <p:cNvPr id="7" name="Okvir za tekst 6">
            <a:extLst>
              <a:ext uri="{FF2B5EF4-FFF2-40B4-BE49-F238E27FC236}">
                <a16:creationId xmlns:a16="http://schemas.microsoft.com/office/drawing/2014/main" id="{897E1724-82DC-E11D-368F-D252F05F0046}"/>
              </a:ext>
            </a:extLst>
          </p:cNvPr>
          <p:cNvSpPr txBox="1"/>
          <p:nvPr/>
        </p:nvSpPr>
        <p:spPr>
          <a:xfrm>
            <a:off x="0" y="997089"/>
            <a:ext cx="9753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Common </a:t>
            </a:r>
            <a:r>
              <a:rPr lang="en-US" b="1" dirty="0" err="1"/>
              <a:t>Projekat</a:t>
            </a:r>
            <a:r>
              <a:rPr lang="en-US" dirty="0"/>
              <a:t>: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zajedničke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  <a:endParaRPr lang="sr-Latn-R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Interfejsi</a:t>
            </a:r>
            <a:r>
              <a:rPr lang="en-US" b="1" dirty="0"/>
              <a:t> u Common-u</a:t>
            </a:r>
            <a:r>
              <a:rPr lang="en-US" dirty="0"/>
              <a:t>:</a:t>
            </a:r>
            <a:endParaRPr lang="sr-Latn-RS" dirty="0"/>
          </a:p>
          <a:p>
            <a:pPr>
              <a:buClr>
                <a:schemeClr val="bg2">
                  <a:lumMod val="50000"/>
                </a:schemeClr>
              </a:buClr>
            </a:pPr>
            <a:endParaRPr lang="sr-Latn-RS" b="1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ICheckServiceStatus</a:t>
            </a:r>
            <a:r>
              <a:rPr lang="en-US" dirty="0"/>
              <a:t>: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CheckServiceStatus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vraća</a:t>
            </a:r>
            <a:r>
              <a:rPr lang="en-US" dirty="0"/>
              <a:t> bool </a:t>
            </a:r>
            <a:r>
              <a:rPr lang="en-US" dirty="0" err="1"/>
              <a:t>vrednost</a:t>
            </a:r>
            <a:r>
              <a:rPr lang="en-US" dirty="0"/>
              <a:t> za </a:t>
            </a:r>
            <a:r>
              <a:rPr lang="en-US" dirty="0" err="1"/>
              <a:t>proveru</a:t>
            </a:r>
            <a:r>
              <a:rPr lang="en-US" dirty="0"/>
              <a:t> </a:t>
            </a:r>
            <a:r>
              <a:rPr lang="en-US" dirty="0" err="1"/>
              <a:t>statusa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  <a:endParaRPr lang="sr-Latn-R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ICommentRepository</a:t>
            </a:r>
            <a:r>
              <a:rPr lang="en-US" b="1" dirty="0"/>
              <a:t>, </a:t>
            </a:r>
            <a:r>
              <a:rPr lang="en-US" b="1" dirty="0" err="1"/>
              <a:t>IFavouritesRepository</a:t>
            </a:r>
            <a:r>
              <a:rPr lang="en-US" b="1" dirty="0"/>
              <a:t>, </a:t>
            </a:r>
            <a:r>
              <a:rPr lang="en-US" b="1" dirty="0" err="1"/>
              <a:t>IPostRepository</a:t>
            </a:r>
            <a:r>
              <a:rPr lang="en-US" b="1" dirty="0"/>
              <a:t>, </a:t>
            </a:r>
            <a:r>
              <a:rPr lang="en-US" b="1" dirty="0" err="1"/>
              <a:t>IUserRepository</a:t>
            </a:r>
            <a:r>
              <a:rPr lang="en-US" dirty="0"/>
              <a:t>: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osnovne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korisničkim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u </a:t>
            </a:r>
            <a:r>
              <a:rPr lang="en-US" dirty="0" err="1"/>
              <a:t>bazi</a:t>
            </a:r>
            <a:r>
              <a:rPr lang="en-US" dirty="0"/>
              <a:t>.</a:t>
            </a:r>
            <a:endParaRPr lang="sr-Latn-R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ICommentService</a:t>
            </a:r>
            <a:r>
              <a:rPr lang="en-US" b="1" dirty="0"/>
              <a:t>, </a:t>
            </a:r>
            <a:r>
              <a:rPr lang="en-US" b="1" dirty="0" err="1"/>
              <a:t>IFavouritesService</a:t>
            </a:r>
            <a:r>
              <a:rPr lang="en-US" b="1" dirty="0"/>
              <a:t>, </a:t>
            </a:r>
            <a:r>
              <a:rPr lang="en-US" b="1" dirty="0" err="1"/>
              <a:t>IPostService</a:t>
            </a:r>
            <a:r>
              <a:rPr lang="en-US" b="1" dirty="0"/>
              <a:t>, </a:t>
            </a:r>
            <a:r>
              <a:rPr lang="en-US" b="1" dirty="0" err="1"/>
              <a:t>IUserService</a:t>
            </a:r>
            <a:r>
              <a:rPr lang="en-US" dirty="0"/>
              <a:t>: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komentarima</a:t>
            </a:r>
            <a:r>
              <a:rPr lang="en-US" dirty="0"/>
              <a:t>, </a:t>
            </a:r>
            <a:r>
              <a:rPr lang="en-US" dirty="0" err="1"/>
              <a:t>omiljenim</a:t>
            </a:r>
            <a:r>
              <a:rPr lang="en-US" dirty="0"/>
              <a:t> </a:t>
            </a:r>
            <a:r>
              <a:rPr lang="en-US" dirty="0" err="1"/>
              <a:t>postovima</a:t>
            </a:r>
            <a:r>
              <a:rPr lang="en-US" dirty="0"/>
              <a:t>, </a:t>
            </a:r>
            <a:r>
              <a:rPr lang="en-US" dirty="0" err="1"/>
              <a:t>postovima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korisnicima</a:t>
            </a:r>
            <a:r>
              <a:rPr lang="en-US" dirty="0"/>
              <a:t> u </a:t>
            </a:r>
            <a:r>
              <a:rPr lang="en-US" dirty="0" err="1"/>
              <a:t>aplikaciji</a:t>
            </a:r>
            <a:r>
              <a:rPr lang="en-US" dirty="0"/>
              <a:t>.</a:t>
            </a:r>
            <a:endParaRPr lang="sr-Latn-R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Entities </a:t>
            </a:r>
            <a:r>
              <a:rPr lang="en-US" b="1" dirty="0" err="1"/>
              <a:t>i</a:t>
            </a:r>
            <a:r>
              <a:rPr lang="en-US" b="1" dirty="0"/>
              <a:t> Repositories</a:t>
            </a:r>
            <a:r>
              <a:rPr lang="en-US" dirty="0"/>
              <a:t>:</a:t>
            </a:r>
            <a:endParaRPr lang="sr-Latn-RS" dirty="0"/>
          </a:p>
          <a:p>
            <a:pPr>
              <a:buClr>
                <a:schemeClr val="bg2">
                  <a:lumMod val="50000"/>
                </a:schemeClr>
              </a:buClr>
            </a:pPr>
            <a:endParaRPr lang="sr-Latn-R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Entities</a:t>
            </a:r>
            <a:r>
              <a:rPr lang="en-US" dirty="0"/>
              <a:t>: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</a:t>
            </a:r>
            <a:r>
              <a:rPr lang="en-US" dirty="0" err="1"/>
              <a:t>CommentData</a:t>
            </a:r>
            <a:r>
              <a:rPr lang="en-US" dirty="0"/>
              <a:t>, </a:t>
            </a:r>
            <a:r>
              <a:rPr lang="en-US" dirty="0" err="1"/>
              <a:t>Favourites</a:t>
            </a:r>
            <a:r>
              <a:rPr lang="en-US" dirty="0"/>
              <a:t>, </a:t>
            </a:r>
            <a:r>
              <a:rPr lang="en-US" dirty="0" err="1"/>
              <a:t>HealthStatus</a:t>
            </a:r>
            <a:r>
              <a:rPr lang="en-US" dirty="0"/>
              <a:t>, </a:t>
            </a:r>
            <a:r>
              <a:rPr lang="en-US" dirty="0" err="1"/>
              <a:t>PostData</a:t>
            </a:r>
            <a:r>
              <a:rPr lang="en-US" dirty="0"/>
              <a:t>, </a:t>
            </a:r>
            <a:r>
              <a:rPr lang="en-US" dirty="0" err="1"/>
              <a:t>UserData</a:t>
            </a:r>
            <a:r>
              <a:rPr lang="en-US" dirty="0"/>
              <a:t>) koji se </a:t>
            </a:r>
            <a:r>
              <a:rPr lang="en-US" dirty="0" err="1"/>
              <a:t>koriste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Azure Table Storage-</a:t>
            </a:r>
            <a:r>
              <a:rPr lang="en-US" dirty="0" err="1"/>
              <a:t>om.</a:t>
            </a: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Repositories</a:t>
            </a:r>
            <a:r>
              <a:rPr lang="en-US" dirty="0"/>
              <a:t>: </a:t>
            </a:r>
            <a:r>
              <a:rPr lang="en-US" dirty="0" err="1"/>
              <a:t>Implementiraju</a:t>
            </a:r>
            <a:r>
              <a:rPr lang="en-US" dirty="0"/>
              <a:t> </a:t>
            </a:r>
            <a:r>
              <a:rPr lang="en-US" dirty="0" err="1"/>
              <a:t>interfejse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Azure Table Storage za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korisničkih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pPr lvl="1">
              <a:buClr>
                <a:schemeClr val="bg2">
                  <a:lumMod val="50000"/>
                </a:schemeClr>
              </a:buClr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38783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</a:rPr>
              <a:t>sistema</a:t>
            </a:r>
            <a:endParaRPr lang="en-US" sz="4000" b="1" spc="-55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Slika 3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176230CE-6313-B5FE-D906-961969C2E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7" y="1142999"/>
            <a:ext cx="4320704" cy="4419601"/>
          </a:xfrm>
          <a:prstGeom prst="rect">
            <a:avLst/>
          </a:prstGeom>
        </p:spPr>
      </p:pic>
      <p:pic>
        <p:nvPicPr>
          <p:cNvPr id="6" name="Slika 5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D1A5EE4E-F4F0-F690-C7D6-2B3169CB6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143000"/>
            <a:ext cx="2895600" cy="4419600"/>
          </a:xfrm>
          <a:prstGeom prst="rect">
            <a:avLst/>
          </a:prstGeom>
        </p:spPr>
      </p:pic>
      <p:pic>
        <p:nvPicPr>
          <p:cNvPr id="10" name="Slika 9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9B24F3CF-338C-B18B-7030-78F0E7D8D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599" y="1164077"/>
            <a:ext cx="4625503" cy="1655323"/>
          </a:xfrm>
          <a:prstGeom prst="rect">
            <a:avLst/>
          </a:prstGeom>
        </p:spPr>
      </p:pic>
      <p:pic>
        <p:nvPicPr>
          <p:cNvPr id="12" name="Slika 11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8FD34F52-35D1-23D5-6982-7A10026EB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598" y="2895600"/>
            <a:ext cx="4625504" cy="266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38783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sp>
        <p:nvSpPr>
          <p:cNvPr id="3" name="Okvir za tekst 2">
            <a:extLst>
              <a:ext uri="{FF2B5EF4-FFF2-40B4-BE49-F238E27FC236}">
                <a16:creationId xmlns:a16="http://schemas.microsoft.com/office/drawing/2014/main" id="{9750648D-714F-2555-9B2F-13E227462587}"/>
              </a:ext>
            </a:extLst>
          </p:cNvPr>
          <p:cNvSpPr txBox="1"/>
          <p:nvPr/>
        </p:nvSpPr>
        <p:spPr>
          <a:xfrm>
            <a:off x="0" y="702345"/>
            <a:ext cx="9982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Pregled</a:t>
            </a:r>
            <a:r>
              <a:rPr lang="en-US" dirty="0"/>
              <a:t>: </a:t>
            </a:r>
            <a:r>
              <a:rPr lang="en-US" dirty="0" err="1"/>
              <a:t>RedditService</a:t>
            </a:r>
            <a:r>
              <a:rPr lang="en-US" dirty="0"/>
              <a:t> je 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koji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korisničke</a:t>
            </a:r>
            <a:r>
              <a:rPr lang="en-US" dirty="0"/>
              <a:t> </a:t>
            </a:r>
            <a:r>
              <a:rPr lang="en-US" dirty="0" err="1"/>
              <a:t>zahteve</a:t>
            </a:r>
            <a:r>
              <a:rPr lang="en-US" dirty="0"/>
              <a:t>, </a:t>
            </a:r>
            <a:r>
              <a:rPr lang="en-US" dirty="0" err="1"/>
              <a:t>postove</a:t>
            </a:r>
            <a:r>
              <a:rPr lang="en-US" dirty="0"/>
              <a:t>, </a:t>
            </a:r>
            <a:r>
              <a:rPr lang="en-US" dirty="0" err="1"/>
              <a:t>komentare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omiljenim</a:t>
            </a:r>
            <a:r>
              <a:rPr lang="en-US" dirty="0"/>
              <a:t> </a:t>
            </a:r>
            <a:r>
              <a:rPr lang="en-US" dirty="0" err="1"/>
              <a:t>temama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stabilnu</a:t>
            </a:r>
            <a:r>
              <a:rPr lang="en-US" dirty="0"/>
              <a:t> </a:t>
            </a:r>
            <a:r>
              <a:rPr lang="en-US" dirty="0" err="1"/>
              <a:t>pozadinsku</a:t>
            </a:r>
            <a:r>
              <a:rPr lang="en-US" dirty="0"/>
              <a:t> </a:t>
            </a:r>
            <a:r>
              <a:rPr lang="en-US" dirty="0" err="1"/>
              <a:t>podršku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skalabilnost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pouzdanost</a:t>
            </a:r>
            <a:r>
              <a:rPr lang="en-US" dirty="0"/>
              <a:t> za rad </a:t>
            </a:r>
            <a:r>
              <a:rPr lang="en-US" dirty="0" err="1"/>
              <a:t>foruma</a:t>
            </a:r>
            <a:r>
              <a:rPr lang="en-US" dirty="0"/>
              <a:t>. </a:t>
            </a:r>
            <a:r>
              <a:rPr lang="en-US" dirty="0" err="1"/>
              <a:t>Poslovna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za </a:t>
            </a:r>
            <a:r>
              <a:rPr lang="en-US" dirty="0" err="1"/>
              <a:t>sve</a:t>
            </a:r>
            <a:r>
              <a:rPr lang="en-US" dirty="0"/>
              <a:t> service se </a:t>
            </a:r>
            <a:r>
              <a:rPr lang="en-US" dirty="0" err="1"/>
              <a:t>nalazi</a:t>
            </a:r>
            <a:r>
              <a:rPr lang="en-US" dirty="0"/>
              <a:t> u Provider </a:t>
            </a:r>
            <a:r>
              <a:rPr lang="en-US" dirty="0" err="1"/>
              <a:t>klasama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Arhitektura</a:t>
            </a:r>
            <a:r>
              <a:rPr lang="en-US" dirty="0"/>
              <a:t>: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CommentServer</a:t>
            </a:r>
            <a:r>
              <a:rPr lang="en-US" dirty="0"/>
              <a:t>: </a:t>
            </a:r>
            <a:r>
              <a:rPr lang="en-US" dirty="0" err="1"/>
              <a:t>Hostuje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komentarima</a:t>
            </a:r>
            <a:r>
              <a:rPr lang="en-US" dirty="0"/>
              <a:t> 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ServiceHost</a:t>
            </a:r>
            <a:r>
              <a:rPr lang="en-US" dirty="0"/>
              <a:t> za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TCP </a:t>
            </a:r>
            <a:r>
              <a:rPr lang="en-US" dirty="0" err="1"/>
              <a:t>endpointom</a:t>
            </a:r>
            <a:r>
              <a:rPr lang="en-US" dirty="0"/>
              <a:t> "</a:t>
            </a:r>
            <a:r>
              <a:rPr lang="en-US" dirty="0" err="1"/>
              <a:t>CommentService</a:t>
            </a:r>
            <a:r>
              <a:rPr lang="en-US" dirty="0"/>
              <a:t>"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ICommentService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FavouritesServer</a:t>
            </a:r>
            <a:r>
              <a:rPr lang="en-US" dirty="0"/>
              <a:t>: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hostovanje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omiljenim</a:t>
            </a:r>
            <a:r>
              <a:rPr lang="en-US" dirty="0"/>
              <a:t> </a:t>
            </a:r>
            <a:r>
              <a:rPr lang="en-US" dirty="0" err="1"/>
              <a:t>postovima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.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IFavouritesService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 za </a:t>
            </a:r>
            <a:r>
              <a:rPr lang="en-US" dirty="0" err="1"/>
              <a:t>dodavanje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preuzimanje</a:t>
            </a:r>
            <a:r>
              <a:rPr lang="en-US" dirty="0"/>
              <a:t> </a:t>
            </a:r>
            <a:r>
              <a:rPr lang="en-US" dirty="0" err="1"/>
              <a:t>omiljenih</a:t>
            </a:r>
            <a:r>
              <a:rPr lang="en-US" dirty="0"/>
              <a:t> </a:t>
            </a:r>
            <a:r>
              <a:rPr lang="en-US" dirty="0" err="1"/>
              <a:t>postova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PostServer</a:t>
            </a:r>
            <a:r>
              <a:rPr lang="en-US" dirty="0"/>
              <a:t>: </a:t>
            </a:r>
            <a:r>
              <a:rPr lang="en-US" dirty="0" err="1"/>
              <a:t>Služi</a:t>
            </a:r>
            <a:r>
              <a:rPr lang="en-US" dirty="0"/>
              <a:t> za </a:t>
            </a:r>
            <a:r>
              <a:rPr lang="en-US" dirty="0" err="1"/>
              <a:t>hostovanje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koji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postovima</a:t>
            </a:r>
            <a:r>
              <a:rPr lang="en-US" dirty="0"/>
              <a:t>.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IPostService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 za </a:t>
            </a:r>
            <a:r>
              <a:rPr lang="en-US" dirty="0" err="1"/>
              <a:t>dodavanje</a:t>
            </a:r>
            <a:r>
              <a:rPr lang="en-US" dirty="0"/>
              <a:t>, </a:t>
            </a:r>
            <a:r>
              <a:rPr lang="en-US" dirty="0" err="1"/>
              <a:t>ažuriranje</a:t>
            </a:r>
            <a:r>
              <a:rPr lang="en-US" dirty="0"/>
              <a:t>, </a:t>
            </a:r>
            <a:r>
              <a:rPr lang="en-US" dirty="0" err="1"/>
              <a:t>preuzimanje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brisanje</a:t>
            </a:r>
            <a:r>
              <a:rPr lang="en-US" dirty="0"/>
              <a:t> </a:t>
            </a:r>
            <a:r>
              <a:rPr lang="en-US" dirty="0" err="1"/>
              <a:t>postova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UserServer</a:t>
            </a:r>
            <a:r>
              <a:rPr lang="en-US" dirty="0"/>
              <a:t>: </a:t>
            </a:r>
            <a:r>
              <a:rPr lang="en-US" dirty="0" err="1"/>
              <a:t>Hostuje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korisničkim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.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IUserService</a:t>
            </a:r>
            <a:r>
              <a:rPr lang="en-US" dirty="0"/>
              <a:t> </a:t>
            </a:r>
            <a:r>
              <a:rPr lang="en-US" dirty="0" err="1"/>
              <a:t>interfejs</a:t>
            </a:r>
            <a:r>
              <a:rPr lang="en-US" dirty="0"/>
              <a:t>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dodavanje</a:t>
            </a:r>
            <a:r>
              <a:rPr lang="en-US" dirty="0"/>
              <a:t>, </a:t>
            </a:r>
            <a:r>
              <a:rPr lang="en-US" dirty="0" err="1"/>
              <a:t>ažuriranje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preuzimanje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WorkerRole</a:t>
            </a:r>
            <a:r>
              <a:rPr lang="en-US" dirty="0"/>
              <a:t>: Ima </a:t>
            </a:r>
            <a:r>
              <a:rPr lang="en-US" dirty="0" err="1"/>
              <a:t>ključnu</a:t>
            </a:r>
            <a:r>
              <a:rPr lang="en-US" dirty="0"/>
              <a:t> </a:t>
            </a:r>
            <a:r>
              <a:rPr lang="en-US" dirty="0" err="1"/>
              <a:t>ulogu</a:t>
            </a:r>
            <a:r>
              <a:rPr lang="en-US" dirty="0"/>
              <a:t> u </a:t>
            </a:r>
            <a:r>
              <a:rPr lang="en-US" dirty="0" err="1"/>
              <a:t>upravljanju</a:t>
            </a:r>
            <a:r>
              <a:rPr lang="en-US" dirty="0"/>
              <a:t> </a:t>
            </a:r>
            <a:r>
              <a:rPr lang="en-US" dirty="0" err="1"/>
              <a:t>osnovnim</a:t>
            </a:r>
            <a:r>
              <a:rPr lang="en-US" dirty="0"/>
              <a:t> </a:t>
            </a:r>
            <a:r>
              <a:rPr lang="en-US" dirty="0" err="1"/>
              <a:t>servisima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povezivanju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Health Monitoring </a:t>
            </a:r>
            <a:r>
              <a:rPr lang="en-US" dirty="0" err="1"/>
              <a:t>sistemom</a:t>
            </a:r>
            <a:r>
              <a:rPr lang="en-US" dirty="0"/>
              <a:t>. </a:t>
            </a:r>
            <a:r>
              <a:rPr lang="en-US" dirty="0" err="1"/>
              <a:t>Otvara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pokreće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glavne</a:t>
            </a:r>
            <a:r>
              <a:rPr lang="en-US" dirty="0"/>
              <a:t> </a:t>
            </a:r>
            <a:r>
              <a:rPr lang="en-US" dirty="0" err="1"/>
              <a:t>servere</a:t>
            </a:r>
            <a:r>
              <a:rPr lang="en-US" dirty="0"/>
              <a:t> (</a:t>
            </a:r>
            <a:r>
              <a:rPr lang="en-US" dirty="0" err="1"/>
              <a:t>UserServer</a:t>
            </a:r>
            <a:r>
              <a:rPr lang="en-US" dirty="0"/>
              <a:t>, </a:t>
            </a:r>
            <a:r>
              <a:rPr lang="en-US" dirty="0" err="1"/>
              <a:t>PostServer</a:t>
            </a:r>
            <a:r>
              <a:rPr lang="en-US" dirty="0"/>
              <a:t>, </a:t>
            </a:r>
            <a:r>
              <a:rPr lang="en-US" dirty="0" err="1"/>
              <a:t>CommentServer</a:t>
            </a:r>
            <a:r>
              <a:rPr lang="en-US" dirty="0"/>
              <a:t>, </a:t>
            </a:r>
            <a:r>
              <a:rPr lang="en-US" dirty="0" err="1"/>
              <a:t>FavouritesServer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njihov</a:t>
            </a:r>
            <a:r>
              <a:rPr lang="en-US" dirty="0"/>
              <a:t> rad </a:t>
            </a:r>
            <a:r>
              <a:rPr lang="en-US" dirty="0" err="1"/>
              <a:t>kroz</a:t>
            </a:r>
            <a:r>
              <a:rPr lang="en-US" dirty="0"/>
              <a:t> TCP </a:t>
            </a:r>
            <a:r>
              <a:rPr lang="en-US" dirty="0" err="1"/>
              <a:t>konekcije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Slika 6" descr="Slika na kojoj se nalazi tekst, snimak ekrana, Font, dizajn&#10;&#10;Opis je automatski generisan">
            <a:extLst>
              <a:ext uri="{FF2B5EF4-FFF2-40B4-BE49-F238E27FC236}">
                <a16:creationId xmlns:a16="http://schemas.microsoft.com/office/drawing/2014/main" id="{50CF4577-3FC5-F007-FED5-5EA1DB0B4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838200"/>
            <a:ext cx="2201157" cy="2926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38783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pic>
        <p:nvPicPr>
          <p:cNvPr id="4" name="Slika 3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09F4A3B0-3EFF-ABDE-705B-AFA233EEE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1" y="796062"/>
            <a:ext cx="4419600" cy="3090138"/>
          </a:xfrm>
          <a:prstGeom prst="rect">
            <a:avLst/>
          </a:prstGeom>
        </p:spPr>
      </p:pic>
      <p:pic>
        <p:nvPicPr>
          <p:cNvPr id="6" name="Slika 5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6968D4EA-B9A6-5E8E-54A4-9DB45F9F8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632" y="796062"/>
            <a:ext cx="3411167" cy="4233138"/>
          </a:xfrm>
          <a:prstGeom prst="rect">
            <a:avLst/>
          </a:prstGeom>
        </p:spPr>
      </p:pic>
      <p:pic>
        <p:nvPicPr>
          <p:cNvPr id="8" name="Slika 7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96159598-CF18-449A-3F0F-296B82968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10210"/>
            <a:ext cx="4419599" cy="2566790"/>
          </a:xfrm>
          <a:prstGeom prst="rect">
            <a:avLst/>
          </a:prstGeom>
        </p:spPr>
      </p:pic>
      <p:pic>
        <p:nvPicPr>
          <p:cNvPr id="10" name="Slika 9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7B0A359F-7A13-EDD9-668D-FB26B8572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546" y="783107"/>
            <a:ext cx="4153253" cy="5693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41226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</a:rPr>
              <a:t>Implementacija</a:t>
            </a:r>
            <a:r>
              <a:rPr sz="4000" b="1" spc="-17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</a:rPr>
              <a:t>sistema</a:t>
            </a:r>
          </a:p>
        </p:txBody>
      </p:sp>
      <p:sp>
        <p:nvSpPr>
          <p:cNvPr id="3" name="Okvir za tekst 2">
            <a:extLst>
              <a:ext uri="{FF2B5EF4-FFF2-40B4-BE49-F238E27FC236}">
                <a16:creationId xmlns:a16="http://schemas.microsoft.com/office/drawing/2014/main" id="{6CE0AFD3-67A0-4DDE-5EC0-B22F2B44FE3C}"/>
              </a:ext>
            </a:extLst>
          </p:cNvPr>
          <p:cNvSpPr txBox="1"/>
          <p:nvPr/>
        </p:nvSpPr>
        <p:spPr>
          <a:xfrm>
            <a:off x="0" y="533400"/>
            <a:ext cx="1219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NotificationService</a:t>
            </a:r>
            <a:r>
              <a:rPr lang="en-US" b="1" dirty="0"/>
              <a:t> </a:t>
            </a:r>
            <a:r>
              <a:rPr lang="en-US" b="1" dirty="0" err="1"/>
              <a:t>funkcija</a:t>
            </a:r>
            <a:r>
              <a:rPr lang="en-US" dirty="0"/>
              <a:t>: </a:t>
            </a:r>
            <a:r>
              <a:rPr lang="en-US" dirty="0" err="1"/>
              <a:t>Slanje</a:t>
            </a:r>
            <a:r>
              <a:rPr lang="en-US" dirty="0"/>
              <a:t> </a:t>
            </a:r>
            <a:r>
              <a:rPr lang="en-US" dirty="0" err="1"/>
              <a:t>obaveštenja</a:t>
            </a:r>
            <a:r>
              <a:rPr lang="en-US" dirty="0"/>
              <a:t> </a:t>
            </a:r>
            <a:r>
              <a:rPr lang="en-US" dirty="0" err="1"/>
              <a:t>korisnicima</a:t>
            </a:r>
            <a:r>
              <a:rPr lang="en-US" dirty="0"/>
              <a:t> o </a:t>
            </a:r>
            <a:r>
              <a:rPr lang="en-US" dirty="0" err="1"/>
              <a:t>novim</a:t>
            </a:r>
            <a:r>
              <a:rPr lang="en-US" dirty="0"/>
              <a:t> </a:t>
            </a:r>
            <a:r>
              <a:rPr lang="en-US" dirty="0" err="1"/>
              <a:t>komentarima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praćene</a:t>
            </a:r>
            <a:r>
              <a:rPr lang="en-US" dirty="0"/>
              <a:t> </a:t>
            </a:r>
            <a:r>
              <a:rPr lang="en-US" dirty="0" err="1"/>
              <a:t>teme</a:t>
            </a:r>
            <a:r>
              <a:rPr lang="en-US" dirty="0"/>
              <a:t>. </a:t>
            </a:r>
            <a:r>
              <a:rPr lang="en-US" dirty="0" err="1"/>
              <a:t>Koristi</a:t>
            </a:r>
            <a:r>
              <a:rPr lang="en-US" dirty="0"/>
              <a:t> Azure </a:t>
            </a:r>
            <a:r>
              <a:rPr lang="en-US" dirty="0" err="1"/>
              <a:t>tehnologije</a:t>
            </a:r>
            <a:r>
              <a:rPr lang="en-US" dirty="0"/>
              <a:t> za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unosa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slanje</a:t>
            </a:r>
            <a:r>
              <a:rPr lang="en-US" dirty="0"/>
              <a:t> e-</a:t>
            </a:r>
            <a:r>
              <a:rPr lang="en-US" dirty="0" err="1"/>
              <a:t>mailova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Arhitektura</a:t>
            </a:r>
            <a:r>
              <a:rPr lang="en-US" dirty="0"/>
              <a:t>:</a:t>
            </a:r>
            <a:endParaRPr lang="en-US" b="1" dirty="0"/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EmailSender</a:t>
            </a:r>
            <a:r>
              <a:rPr lang="en-US" dirty="0"/>
              <a:t>: </a:t>
            </a:r>
            <a:r>
              <a:rPr lang="en-US" dirty="0" err="1"/>
              <a:t>Klasa</a:t>
            </a:r>
            <a:r>
              <a:rPr lang="en-US" dirty="0"/>
              <a:t> za </a:t>
            </a:r>
            <a:r>
              <a:rPr lang="en-US" dirty="0" err="1"/>
              <a:t>slanje</a:t>
            </a:r>
            <a:r>
              <a:rPr lang="en-US" dirty="0"/>
              <a:t> e-mail </a:t>
            </a:r>
            <a:r>
              <a:rPr lang="en-US" dirty="0" err="1"/>
              <a:t>obaveštenja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SMTP </a:t>
            </a:r>
            <a:r>
              <a:rPr lang="en-US" dirty="0" err="1"/>
              <a:t>protokola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WorkerRole</a:t>
            </a:r>
            <a:r>
              <a:rPr lang="en-US" dirty="0"/>
              <a:t>: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servisima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proverava</a:t>
            </a:r>
            <a:r>
              <a:rPr lang="en-US" dirty="0"/>
              <a:t> red "comments" u Azure Storage-u, </a:t>
            </a:r>
            <a:r>
              <a:rPr lang="en-US" dirty="0" err="1"/>
              <a:t>šaljući</a:t>
            </a:r>
            <a:r>
              <a:rPr lang="en-US" dirty="0"/>
              <a:t> </a:t>
            </a:r>
            <a:r>
              <a:rPr lang="en-US" dirty="0" err="1"/>
              <a:t>obaveštenja</a:t>
            </a:r>
            <a:r>
              <a:rPr lang="en-US" dirty="0"/>
              <a:t> </a:t>
            </a:r>
            <a:r>
              <a:rPr lang="en-US" dirty="0" err="1"/>
              <a:t>korisnicima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ServiceStatus</a:t>
            </a:r>
            <a:r>
              <a:rPr lang="en-US" dirty="0"/>
              <a:t>: </a:t>
            </a:r>
            <a:r>
              <a:rPr lang="en-US" dirty="0" err="1"/>
              <a:t>Proverava</a:t>
            </a:r>
            <a:r>
              <a:rPr lang="en-US" dirty="0"/>
              <a:t> status </a:t>
            </a:r>
            <a:r>
              <a:rPr lang="en-US" dirty="0" err="1"/>
              <a:t>servisa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osigurava</a:t>
            </a:r>
            <a:r>
              <a:rPr lang="en-US" dirty="0"/>
              <a:t> </a:t>
            </a:r>
            <a:r>
              <a:rPr lang="en-US" dirty="0" err="1"/>
              <a:t>stabilnost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Slika 4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A75C55F6-4E66-ED8A-40A4-5F1C1E7E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775" y="3048000"/>
            <a:ext cx="3124025" cy="2747739"/>
          </a:xfrm>
          <a:prstGeom prst="rect">
            <a:avLst/>
          </a:prstGeom>
        </p:spPr>
      </p:pic>
      <p:pic>
        <p:nvPicPr>
          <p:cNvPr id="19" name="Slika 18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8453A52D-C10C-ACE9-AA67-CD187164A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286000"/>
            <a:ext cx="4876800" cy="4191000"/>
          </a:xfrm>
          <a:prstGeom prst="rect">
            <a:avLst/>
          </a:prstGeom>
        </p:spPr>
      </p:pic>
      <p:pic>
        <p:nvPicPr>
          <p:cNvPr id="21" name="Slika 20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1292EEF9-DDE4-31F3-078B-386B3ACE1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7" y="2286000"/>
            <a:ext cx="3788268" cy="419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55328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sp>
        <p:nvSpPr>
          <p:cNvPr id="6" name="Okvir za tekst 5">
            <a:extLst>
              <a:ext uri="{FF2B5EF4-FFF2-40B4-BE49-F238E27FC236}">
                <a16:creationId xmlns:a16="http://schemas.microsoft.com/office/drawing/2014/main" id="{3D124104-B6D5-99B8-E92E-F3B4C1588C5C}"/>
              </a:ext>
            </a:extLst>
          </p:cNvPr>
          <p:cNvSpPr txBox="1"/>
          <p:nvPr/>
        </p:nvSpPr>
        <p:spPr>
          <a:xfrm>
            <a:off x="0" y="76200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HealthMonitoringService</a:t>
            </a:r>
            <a:r>
              <a:rPr lang="en-US" b="1" dirty="0"/>
              <a:t> </a:t>
            </a:r>
            <a:r>
              <a:rPr lang="en-US" b="1" dirty="0" err="1"/>
              <a:t>funkcija</a:t>
            </a:r>
            <a:r>
              <a:rPr lang="en-US" dirty="0"/>
              <a:t>: </a:t>
            </a:r>
            <a:r>
              <a:rPr lang="en-US" dirty="0" err="1"/>
              <a:t>Kontinuirano</a:t>
            </a:r>
            <a:r>
              <a:rPr lang="en-US" dirty="0"/>
              <a:t>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statusa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komponenti</a:t>
            </a:r>
            <a:r>
              <a:rPr lang="en-US" dirty="0"/>
              <a:t> (</a:t>
            </a:r>
            <a:r>
              <a:rPr lang="en-US" dirty="0" err="1"/>
              <a:t>RedditService</a:t>
            </a:r>
            <a:r>
              <a:rPr lang="en-US" dirty="0"/>
              <a:t>, </a:t>
            </a:r>
            <a:r>
              <a:rPr lang="en-US" dirty="0" err="1"/>
              <a:t>NotificationService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automatsko</a:t>
            </a:r>
            <a:r>
              <a:rPr lang="en-US" dirty="0"/>
              <a:t> </a:t>
            </a:r>
            <a:r>
              <a:rPr lang="en-US" dirty="0" err="1"/>
              <a:t>reagovanje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Arhitektura</a:t>
            </a:r>
            <a:r>
              <a:rPr lang="en-US" dirty="0"/>
              <a:t>: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WorkerRole</a:t>
            </a:r>
            <a:r>
              <a:rPr lang="en-US" dirty="0"/>
              <a:t>: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statusa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politika</a:t>
            </a:r>
            <a:r>
              <a:rPr lang="en-US" dirty="0"/>
              <a:t> </a:t>
            </a:r>
            <a:r>
              <a:rPr lang="en-US" dirty="0" err="1"/>
              <a:t>ponovnog</a:t>
            </a:r>
            <a:r>
              <a:rPr lang="sr-Latn-RS" dirty="0"/>
              <a:t> (</a:t>
            </a:r>
            <a:r>
              <a:rPr lang="sr-Latn-RS" dirty="0" err="1"/>
              <a:t>Polly</a:t>
            </a:r>
            <a:r>
              <a:rPr lang="sr-Latn-RS" dirty="0"/>
              <a:t>)</a:t>
            </a:r>
            <a:r>
              <a:rPr lang="en-US" dirty="0"/>
              <a:t> </a:t>
            </a:r>
            <a:r>
              <a:rPr lang="en-US" dirty="0" err="1"/>
              <a:t>pokušaja</a:t>
            </a:r>
            <a:r>
              <a:rPr lang="en-US" dirty="0"/>
              <a:t> za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WCF-a.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EnsureConnection</a:t>
            </a:r>
            <a:r>
              <a:rPr lang="en-US" dirty="0"/>
              <a:t>: </a:t>
            </a:r>
            <a:r>
              <a:rPr lang="en-US" dirty="0" err="1"/>
              <a:t>Inicijalizacija</a:t>
            </a:r>
            <a:r>
              <a:rPr lang="en-US" dirty="0"/>
              <a:t> WCF proxy </a:t>
            </a:r>
            <a:r>
              <a:rPr lang="en-US" dirty="0" err="1"/>
              <a:t>objekata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ažuriranje</a:t>
            </a:r>
            <a:r>
              <a:rPr lang="en-US" dirty="0"/>
              <a:t> </a:t>
            </a:r>
            <a:r>
              <a:rPr lang="en-US" dirty="0" err="1"/>
              <a:t>statusa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u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obaveštavanje</a:t>
            </a:r>
            <a:r>
              <a:rPr lang="en-US" dirty="0"/>
              <a:t> </a:t>
            </a:r>
            <a:r>
              <a:rPr lang="en-US" dirty="0" err="1"/>
              <a:t>administracije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SignalR</a:t>
            </a:r>
            <a:r>
              <a:rPr lang="en-US" dirty="0"/>
              <a:t>-a.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SignalR</a:t>
            </a:r>
            <a:r>
              <a:rPr lang="en-US" dirty="0"/>
              <a:t>: Real-time </a:t>
            </a:r>
            <a:r>
              <a:rPr lang="en-US" dirty="0" err="1"/>
              <a:t>obaveštavanje</a:t>
            </a:r>
            <a:r>
              <a:rPr lang="en-US" dirty="0"/>
              <a:t> </a:t>
            </a:r>
            <a:r>
              <a:rPr lang="en-US" dirty="0" err="1"/>
              <a:t>administratora</a:t>
            </a:r>
            <a:r>
              <a:rPr lang="en-US" dirty="0"/>
              <a:t> o </a:t>
            </a:r>
            <a:r>
              <a:rPr lang="en-US" dirty="0" err="1"/>
              <a:t>statusu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2" name="Slika 21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9C3CA863-BC8D-0446-E1B0-326C7CF37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2806898"/>
            <a:ext cx="2941441" cy="1827887"/>
          </a:xfrm>
          <a:prstGeom prst="rect">
            <a:avLst/>
          </a:prstGeom>
        </p:spPr>
      </p:pic>
      <p:pic>
        <p:nvPicPr>
          <p:cNvPr id="26" name="Slika 25" descr="Slika na kojoj se nalazi tekst, snimak ekrana, softver, ekran&#10;&#10;Opis je automatski generisan">
            <a:extLst>
              <a:ext uri="{FF2B5EF4-FFF2-40B4-BE49-F238E27FC236}">
                <a16:creationId xmlns:a16="http://schemas.microsoft.com/office/drawing/2014/main" id="{B13DCCE7-52F8-D03B-8636-84534AB0A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806899"/>
            <a:ext cx="4419600" cy="3670101"/>
          </a:xfrm>
          <a:prstGeom prst="rect">
            <a:avLst/>
          </a:prstGeom>
        </p:spPr>
      </p:pic>
      <p:pic>
        <p:nvPicPr>
          <p:cNvPr id="28" name="Slika 27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E7CA8888-0CE2-CF72-AE44-AAE592236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60" y="2806898"/>
            <a:ext cx="4313040" cy="3670102"/>
          </a:xfrm>
          <a:prstGeom prst="rect">
            <a:avLst/>
          </a:prstGeom>
        </p:spPr>
      </p:pic>
      <p:pic>
        <p:nvPicPr>
          <p:cNvPr id="30" name="Slika 29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A9508515-53BE-B0C5-AF31-3C2A2F15D1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960" y="5231087"/>
            <a:ext cx="3070006" cy="124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152400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9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sz="4000" b="1" spc="-5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</a:p>
        </p:txBody>
      </p:sp>
      <p:pic>
        <p:nvPicPr>
          <p:cNvPr id="4" name="Slika 3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972DE003-A6DF-49DB-A59D-F8FB5FC2F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88729"/>
            <a:ext cx="4953000" cy="3273672"/>
          </a:xfrm>
          <a:prstGeom prst="rect">
            <a:avLst/>
          </a:prstGeom>
        </p:spPr>
      </p:pic>
      <p:pic>
        <p:nvPicPr>
          <p:cNvPr id="6" name="Slika 5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8E68D227-4444-3EA8-82AB-9BDC5C67D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688728"/>
            <a:ext cx="7010400" cy="4762972"/>
          </a:xfrm>
          <a:prstGeom prst="rect">
            <a:avLst/>
          </a:prstGeom>
        </p:spPr>
      </p:pic>
      <p:pic>
        <p:nvPicPr>
          <p:cNvPr id="8" name="Slika 7" descr="Slika na kojoj se nalazi tekst, snimak ekrana, softver, Font&#10;&#10;Opis je automatski generisan">
            <a:extLst>
              <a:ext uri="{FF2B5EF4-FFF2-40B4-BE49-F238E27FC236}">
                <a16:creationId xmlns:a16="http://schemas.microsoft.com/office/drawing/2014/main" id="{0FEC67E9-F726-36B4-06A1-2381B81C5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6" y="4033381"/>
            <a:ext cx="4946374" cy="1418320"/>
          </a:xfrm>
          <a:prstGeom prst="rect">
            <a:avLst/>
          </a:prstGeom>
        </p:spPr>
      </p:pic>
      <p:pic>
        <p:nvPicPr>
          <p:cNvPr id="10" name="Slika 9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265955B9-C4F8-4572-1D12-390DC2AEF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6" y="5522680"/>
            <a:ext cx="5860774" cy="1127858"/>
          </a:xfrm>
          <a:prstGeom prst="rect">
            <a:avLst/>
          </a:prstGeom>
        </p:spPr>
      </p:pic>
      <p:pic>
        <p:nvPicPr>
          <p:cNvPr id="12" name="Slika 11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FE13073A-59AF-A211-9DA8-07B641EC2B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5530301"/>
            <a:ext cx="6089374" cy="1120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kvir za tekst 4">
            <a:extLst>
              <a:ext uri="{FF2B5EF4-FFF2-40B4-BE49-F238E27FC236}">
                <a16:creationId xmlns:a16="http://schemas.microsoft.com/office/drawing/2014/main" id="{85210E13-E153-E9B6-6A94-E7AD3DB3A914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Slika 6" descr="Slika na kojoj se nalazi tekst, snimak ekrana, Font&#10;&#10;Opis je automatski generisan">
            <a:extLst>
              <a:ext uri="{FF2B5EF4-FFF2-40B4-BE49-F238E27FC236}">
                <a16:creationId xmlns:a16="http://schemas.microsoft.com/office/drawing/2014/main" id="{8D08AC98-74F0-3677-651B-9C195BA8D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694916"/>
            <a:ext cx="2339543" cy="4545311"/>
          </a:xfrm>
          <a:prstGeom prst="rect">
            <a:avLst/>
          </a:prstGeom>
        </p:spPr>
      </p:pic>
      <p:sp>
        <p:nvSpPr>
          <p:cNvPr id="8" name="Okvir za tekst 7">
            <a:extLst>
              <a:ext uri="{FF2B5EF4-FFF2-40B4-BE49-F238E27FC236}">
                <a16:creationId xmlns:a16="http://schemas.microsoft.com/office/drawing/2014/main" id="{9CB27F00-F21D-BE89-8AA8-75D7C40AC5D1}"/>
              </a:ext>
            </a:extLst>
          </p:cNvPr>
          <p:cNvSpPr txBox="1"/>
          <p:nvPr/>
        </p:nvSpPr>
        <p:spPr>
          <a:xfrm>
            <a:off x="0" y="707886"/>
            <a:ext cx="967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AdminTools</a:t>
            </a:r>
            <a:r>
              <a:rPr lang="en-US" b="1" dirty="0"/>
              <a:t> </a:t>
            </a:r>
            <a:r>
              <a:rPr lang="en-US" b="1" dirty="0" err="1"/>
              <a:t>funkcija</a:t>
            </a:r>
            <a:r>
              <a:rPr lang="en-US" dirty="0"/>
              <a:t>: </a:t>
            </a:r>
            <a:r>
              <a:rPr lang="en-US" dirty="0" err="1"/>
              <a:t>Ključna</a:t>
            </a:r>
            <a:r>
              <a:rPr lang="en-US" dirty="0"/>
              <a:t> za </a:t>
            </a:r>
            <a:r>
              <a:rPr lang="en-US" dirty="0" err="1"/>
              <a:t>administraciju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;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administratorima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obaveštavanjem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o </a:t>
            </a:r>
            <a:r>
              <a:rPr lang="en-US" dirty="0" err="1"/>
              <a:t>statusu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AdminTools</a:t>
            </a:r>
            <a:r>
              <a:rPr lang="en-US" dirty="0"/>
              <a:t>: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Autentifikacija</a:t>
            </a:r>
            <a:r>
              <a:rPr lang="en-US" dirty="0"/>
              <a:t>: </a:t>
            </a:r>
            <a:r>
              <a:rPr lang="en-US" dirty="0" err="1"/>
              <a:t>Prijava</a:t>
            </a:r>
            <a:r>
              <a:rPr lang="en-US" dirty="0"/>
              <a:t> </a:t>
            </a:r>
            <a:r>
              <a:rPr lang="en-US" dirty="0" err="1"/>
              <a:t>administratora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email </a:t>
            </a:r>
            <a:r>
              <a:rPr lang="en-US" dirty="0" err="1"/>
              <a:t>adresama</a:t>
            </a:r>
            <a:r>
              <a:rPr lang="en-US" dirty="0"/>
              <a:t> za </a:t>
            </a:r>
            <a:r>
              <a:rPr lang="en-US" dirty="0" err="1"/>
              <a:t>obaveštavanje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SignalR</a:t>
            </a:r>
            <a:r>
              <a:rPr lang="en-US" b="1" dirty="0"/>
              <a:t> </a:t>
            </a:r>
            <a:r>
              <a:rPr lang="en-US" b="1" dirty="0" err="1"/>
              <a:t>Integracija</a:t>
            </a:r>
            <a:r>
              <a:rPr lang="en-US" dirty="0"/>
              <a:t>: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dvosmernu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klijenata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</a:t>
            </a:r>
          </a:p>
          <a:p>
            <a:pPr marL="742950" lvl="1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Program </a:t>
            </a:r>
            <a:r>
              <a:rPr lang="en-US" b="1" dirty="0" err="1"/>
              <a:t>Klasa</a:t>
            </a:r>
            <a:r>
              <a:rPr lang="en-US" dirty="0"/>
              <a:t>: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b="1" dirty="0"/>
              <a:t>Startup</a:t>
            </a:r>
            <a:r>
              <a:rPr lang="en-US" dirty="0"/>
              <a:t>, </a:t>
            </a:r>
            <a:r>
              <a:rPr lang="en-US" b="1" dirty="0"/>
              <a:t>Main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ManageEmailAddresses</a:t>
            </a:r>
            <a:r>
              <a:rPr lang="en-US" dirty="0"/>
              <a:t> za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SignalR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administrativnim</a:t>
            </a:r>
            <a:r>
              <a:rPr lang="en-US" dirty="0"/>
              <a:t> </a:t>
            </a:r>
            <a:r>
              <a:rPr lang="en-US" dirty="0" err="1"/>
              <a:t>zadacima</a:t>
            </a:r>
            <a:r>
              <a:rPr lang="en-US" dirty="0"/>
              <a:t>.</a:t>
            </a:r>
          </a:p>
        </p:txBody>
      </p:sp>
      <p:pic>
        <p:nvPicPr>
          <p:cNvPr id="10" name="Slika 9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4140477E-8116-EF99-75F8-875E575A8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7" y="3016210"/>
            <a:ext cx="3634943" cy="3460790"/>
          </a:xfrm>
          <a:prstGeom prst="rect">
            <a:avLst/>
          </a:prstGeom>
        </p:spPr>
      </p:pic>
      <p:pic>
        <p:nvPicPr>
          <p:cNvPr id="12" name="Slika 11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D542F466-1586-A345-B809-E4DB99EF9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004" y="3016210"/>
            <a:ext cx="2899595" cy="3460790"/>
          </a:xfrm>
          <a:prstGeom prst="rect">
            <a:avLst/>
          </a:prstGeom>
        </p:spPr>
      </p:pic>
      <p:pic>
        <p:nvPicPr>
          <p:cNvPr id="16" name="Slika 15" descr="Slika na kojoj se nalazi tekst, snimak ekrana, softver, Multimedijski softver&#10;&#10;Opis je automatski generisan">
            <a:extLst>
              <a:ext uri="{FF2B5EF4-FFF2-40B4-BE49-F238E27FC236}">
                <a16:creationId xmlns:a16="http://schemas.microsoft.com/office/drawing/2014/main" id="{20AFC522-59FA-4749-BF30-B8623883C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803" y="5303028"/>
            <a:ext cx="5315340" cy="1173582"/>
          </a:xfrm>
          <a:prstGeom prst="rect">
            <a:avLst/>
          </a:prstGeom>
        </p:spPr>
      </p:pic>
      <p:pic>
        <p:nvPicPr>
          <p:cNvPr id="18" name="Slika 17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46DCF104-5378-DC4A-C6C1-7C1A68A2F6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361" y="2995094"/>
            <a:ext cx="2945813" cy="224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6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kvir za tekst 4">
            <a:extLst>
              <a:ext uri="{FF2B5EF4-FFF2-40B4-BE49-F238E27FC236}">
                <a16:creationId xmlns:a16="http://schemas.microsoft.com/office/drawing/2014/main" id="{F82CF2FB-5B5E-966C-84C9-F2C0C9518944}"/>
              </a:ext>
            </a:extLst>
          </p:cNvPr>
          <p:cNvSpPr txBox="1"/>
          <p:nvPr/>
        </p:nvSpPr>
        <p:spPr>
          <a:xfrm>
            <a:off x="0" y="-28039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-9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Implementacija</a:t>
            </a:r>
            <a:r>
              <a:rPr lang="en-US" sz="4000" b="1" spc="-17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 </a:t>
            </a:r>
            <a:r>
              <a:rPr lang="en-US" sz="4000" b="1" spc="-55" dirty="0" err="1">
                <a:solidFill>
                  <a:schemeClr val="accent1">
                    <a:lumMod val="75000"/>
                  </a:schemeClr>
                </a:solidFill>
                <a:latin typeface="Carlito"/>
              </a:rPr>
              <a:t>sistema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Carlito"/>
            </a:endParaRPr>
          </a:p>
          <a:p>
            <a:pPr algn="ctr"/>
            <a:endParaRPr lang="en-US" sz="4000" dirty="0">
              <a:latin typeface="Carlito"/>
            </a:endParaRPr>
          </a:p>
        </p:txBody>
      </p:sp>
      <p:sp>
        <p:nvSpPr>
          <p:cNvPr id="10" name="Okvir za tekst 9">
            <a:extLst>
              <a:ext uri="{FF2B5EF4-FFF2-40B4-BE49-F238E27FC236}">
                <a16:creationId xmlns:a16="http://schemas.microsoft.com/office/drawing/2014/main" id="{AAB35CBC-86D6-8EC3-F45A-416A5932114A}"/>
              </a:ext>
            </a:extLst>
          </p:cNvPr>
          <p:cNvSpPr txBox="1"/>
          <p:nvPr/>
        </p:nvSpPr>
        <p:spPr>
          <a:xfrm>
            <a:off x="8916" y="850880"/>
            <a:ext cx="784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SignalR</a:t>
            </a:r>
            <a:r>
              <a:rPr lang="en-US" b="1" dirty="0"/>
              <a:t> </a:t>
            </a:r>
            <a:r>
              <a:rPr lang="en-US" b="1" dirty="0" err="1"/>
              <a:t>Integracija</a:t>
            </a:r>
            <a:r>
              <a:rPr lang="en-US" dirty="0"/>
              <a:t>: </a:t>
            </a:r>
            <a:r>
              <a:rPr lang="en-US" b="1" dirty="0" err="1"/>
              <a:t>AdminHub</a:t>
            </a:r>
            <a:r>
              <a:rPr lang="en-US" dirty="0"/>
              <a:t>: </a:t>
            </a:r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klasa</a:t>
            </a:r>
            <a:r>
              <a:rPr lang="en-US" dirty="0"/>
              <a:t> za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klijenata</a:t>
            </a:r>
            <a:r>
              <a:rPr lang="en-US" dirty="0"/>
              <a:t>. </a:t>
            </a:r>
            <a:r>
              <a:rPr lang="en-US" dirty="0" err="1"/>
              <a:t>Omogućava</a:t>
            </a:r>
            <a:r>
              <a:rPr lang="en-US" dirty="0"/>
              <a:t> real-time </a:t>
            </a:r>
            <a:r>
              <a:rPr lang="en-US" dirty="0" err="1"/>
              <a:t>obaveštavanje</a:t>
            </a:r>
            <a:r>
              <a:rPr lang="en-US" dirty="0"/>
              <a:t> o </a:t>
            </a:r>
            <a:r>
              <a:rPr lang="en-US" dirty="0" err="1"/>
              <a:t>statusu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SendMessage</a:t>
            </a:r>
            <a:r>
              <a:rPr lang="en-US" dirty="0"/>
              <a:t>: </a:t>
            </a:r>
            <a:r>
              <a:rPr lang="en-US" dirty="0" err="1"/>
              <a:t>Metoda</a:t>
            </a:r>
            <a:r>
              <a:rPr lang="en-US" dirty="0"/>
              <a:t> za </a:t>
            </a:r>
            <a:r>
              <a:rPr lang="en-US" dirty="0" err="1"/>
              <a:t>slanje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klijentima</a:t>
            </a:r>
            <a:r>
              <a:rPr lang="en-US" dirty="0"/>
              <a:t> </a:t>
            </a:r>
            <a:r>
              <a:rPr lang="en-US" dirty="0" err="1"/>
              <a:t>povezanima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hub.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HandleIncomingMessage</a:t>
            </a:r>
            <a:r>
              <a:rPr lang="en-US" dirty="0"/>
              <a:t>: </a:t>
            </a:r>
            <a:r>
              <a:rPr lang="en-US" dirty="0" err="1"/>
              <a:t>Detektuje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servisima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šalje</a:t>
            </a:r>
            <a:r>
              <a:rPr lang="en-US" dirty="0"/>
              <a:t> email </a:t>
            </a:r>
            <a:r>
              <a:rPr lang="en-US" dirty="0" err="1"/>
              <a:t>obaveštenja</a:t>
            </a:r>
            <a:r>
              <a:rPr lang="en-US" dirty="0"/>
              <a:t> </a:t>
            </a:r>
            <a:r>
              <a:rPr lang="en-US" dirty="0" err="1"/>
              <a:t>administratorima</a:t>
            </a:r>
            <a:r>
              <a:rPr lang="en-US" dirty="0"/>
              <a:t>.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pl-PL" b="1" dirty="0"/>
              <a:t>Glavna Prednost</a:t>
            </a:r>
            <a:r>
              <a:rPr lang="pl-PL" dirty="0"/>
              <a:t>: Brza reakcija na potencijalne probleme u sistemu, osiguravajući stabilnost i dostupnost aplikacije.</a:t>
            </a:r>
            <a:endParaRPr lang="en-US" dirty="0"/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14" name="Slika 13" descr="Slika na kojoj se nalazi tekst, snimak ekrana, Font, softver&#10;&#10;Opis je automatski generisan">
            <a:extLst>
              <a:ext uri="{FF2B5EF4-FFF2-40B4-BE49-F238E27FC236}">
                <a16:creationId xmlns:a16="http://schemas.microsoft.com/office/drawing/2014/main" id="{1C120B4B-94A2-7B9B-1610-30EA98AFD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03" y="4055533"/>
            <a:ext cx="3597616" cy="2116667"/>
          </a:xfrm>
          <a:prstGeom prst="rect">
            <a:avLst/>
          </a:prstGeom>
        </p:spPr>
      </p:pic>
      <p:pic>
        <p:nvPicPr>
          <p:cNvPr id="16" name="Slika 15" descr="Slika na kojoj se nalazi tekst, snimak ekrana, Font, softver&#10;&#10;Opis je automatski generisan">
            <a:extLst>
              <a:ext uri="{FF2B5EF4-FFF2-40B4-BE49-F238E27FC236}">
                <a16:creationId xmlns:a16="http://schemas.microsoft.com/office/drawing/2014/main" id="{D7F1F636-4F4D-2032-2237-D99C2798C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519" y="4063639"/>
            <a:ext cx="3968881" cy="2108561"/>
          </a:xfrm>
          <a:prstGeom prst="rect">
            <a:avLst/>
          </a:prstGeom>
        </p:spPr>
      </p:pic>
      <p:pic>
        <p:nvPicPr>
          <p:cNvPr id="18" name="Slika 17" descr="Slika na kojoj se nalazi tekst, snimak ekrana, softver&#10;&#10;Opis je automatski generisan">
            <a:extLst>
              <a:ext uri="{FF2B5EF4-FFF2-40B4-BE49-F238E27FC236}">
                <a16:creationId xmlns:a16="http://schemas.microsoft.com/office/drawing/2014/main" id="{255FF25F-ABAE-B082-05BA-37325F64F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888" y="931333"/>
            <a:ext cx="4153711" cy="52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3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2928"/>
            <a:ext cx="12192000" cy="841128"/>
          </a:xfrm>
          <a:prstGeom prst="rect">
            <a:avLst/>
          </a:prstGeom>
        </p:spPr>
        <p:txBody>
          <a:bodyPr vert="horz" wrap="square" lIns="0" tIns="22339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85" dirty="0">
                <a:solidFill>
                  <a:schemeClr val="accent1">
                    <a:lumMod val="75000"/>
                  </a:schemeClr>
                </a:solidFill>
                <a:latin typeface="Carlito"/>
              </a:rPr>
              <a:t>Zaključak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14400" y="1371600"/>
            <a:ext cx="10302559" cy="4558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655" indent="-147955" algn="just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800" b="1" dirty="0" err="1"/>
              <a:t>Uspešna</a:t>
            </a:r>
            <a:r>
              <a:rPr lang="en-US" sz="1800" b="1" dirty="0"/>
              <a:t> </a:t>
            </a:r>
            <a:r>
              <a:rPr lang="en-US" sz="1800" b="1" dirty="0" err="1"/>
              <a:t>implementacija</a:t>
            </a:r>
            <a:r>
              <a:rPr lang="en-US" sz="1800" dirty="0"/>
              <a:t>: </a:t>
            </a:r>
            <a:r>
              <a:rPr lang="en-US" sz="1800" dirty="0" err="1"/>
              <a:t>Aplikacija</a:t>
            </a:r>
            <a:r>
              <a:rPr lang="en-US" sz="1800" dirty="0"/>
              <a:t> za </a:t>
            </a:r>
            <a:r>
              <a:rPr lang="en-US" sz="1800" dirty="0" err="1"/>
              <a:t>upravljanje</a:t>
            </a:r>
            <a:r>
              <a:rPr lang="en-US" sz="1800" dirty="0"/>
              <a:t> </a:t>
            </a:r>
            <a:r>
              <a:rPr lang="en-US" sz="1800" dirty="0" err="1"/>
              <a:t>forumskim</a:t>
            </a:r>
            <a:r>
              <a:rPr lang="en-US" sz="1800" dirty="0"/>
              <a:t> </a:t>
            </a:r>
            <a:r>
              <a:rPr lang="en-US" sz="1800" dirty="0" err="1"/>
              <a:t>temama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komentarima</a:t>
            </a:r>
            <a:r>
              <a:rPr lang="en-US" sz="1800" dirty="0"/>
              <a:t> </a:t>
            </a:r>
            <a:r>
              <a:rPr lang="en-US" sz="1800" dirty="0" err="1"/>
              <a:t>pokazala</a:t>
            </a:r>
            <a:r>
              <a:rPr lang="en-US" sz="1800" dirty="0"/>
              <a:t> je </a:t>
            </a:r>
            <a:r>
              <a:rPr lang="en-US" sz="1800" dirty="0" err="1"/>
              <a:t>skalabilnost</a:t>
            </a:r>
            <a:r>
              <a:rPr lang="en-US" sz="1800" dirty="0"/>
              <a:t>, </a:t>
            </a:r>
            <a:r>
              <a:rPr lang="en-US" sz="1800" dirty="0" err="1"/>
              <a:t>pouzdanost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fleksibilnost</a:t>
            </a:r>
            <a:r>
              <a:rPr lang="en-US" sz="1800" dirty="0"/>
              <a:t> Cloud </a:t>
            </a:r>
            <a:r>
              <a:rPr lang="en-US" sz="1800" dirty="0" err="1"/>
              <a:t>tehnologija</a:t>
            </a:r>
            <a:r>
              <a:rPr lang="en-US" sz="1800" dirty="0"/>
              <a:t>.</a:t>
            </a:r>
          </a:p>
          <a:p>
            <a:pPr marL="160655" indent="-147955" algn="just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800" dirty="0"/>
          </a:p>
          <a:p>
            <a:pPr marL="160655" indent="-147955" algn="just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800" b="1" dirty="0"/>
              <a:t>Microsoft Azure</a:t>
            </a:r>
            <a:r>
              <a:rPr lang="en-US" sz="1800" dirty="0"/>
              <a:t>: </a:t>
            </a:r>
            <a:r>
              <a:rPr lang="en-US" sz="1800" dirty="0" err="1"/>
              <a:t>Korišćenje</a:t>
            </a:r>
            <a:r>
              <a:rPr lang="en-US" sz="1800" dirty="0"/>
              <a:t> </a:t>
            </a:r>
            <a:r>
              <a:rPr lang="en-US" sz="1800" dirty="0" err="1"/>
              <a:t>servisa</a:t>
            </a:r>
            <a:r>
              <a:rPr lang="en-US" sz="1800" dirty="0"/>
              <a:t> </a:t>
            </a:r>
            <a:r>
              <a:rPr lang="en-US" sz="1800" dirty="0" err="1"/>
              <a:t>kao</a:t>
            </a:r>
            <a:r>
              <a:rPr lang="en-US" sz="1800" dirty="0"/>
              <a:t> </a:t>
            </a:r>
            <a:r>
              <a:rPr lang="en-US" sz="1800" dirty="0" err="1"/>
              <a:t>što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WebRole</a:t>
            </a:r>
            <a:r>
              <a:rPr lang="en-US" sz="1800" dirty="0"/>
              <a:t>, </a:t>
            </a:r>
            <a:r>
              <a:rPr lang="en-US" sz="1800" dirty="0" err="1"/>
              <a:t>WorkerRole</a:t>
            </a:r>
            <a:r>
              <a:rPr lang="en-US" sz="1800" dirty="0"/>
              <a:t>, </a:t>
            </a:r>
            <a:r>
              <a:rPr lang="en-US" sz="1800" dirty="0" err="1"/>
              <a:t>i</a:t>
            </a:r>
            <a:r>
              <a:rPr lang="en-US" sz="1800" dirty="0"/>
              <a:t> Azure Storage </a:t>
            </a:r>
            <a:r>
              <a:rPr lang="en-US" sz="1800" dirty="0" err="1"/>
              <a:t>omogućilo</a:t>
            </a:r>
            <a:r>
              <a:rPr lang="en-US" sz="1800" dirty="0"/>
              <a:t> je </a:t>
            </a:r>
            <a:r>
              <a:rPr lang="en-US" sz="1800" dirty="0" err="1"/>
              <a:t>razvijanje</a:t>
            </a:r>
            <a:r>
              <a:rPr lang="en-US" sz="1800" dirty="0"/>
              <a:t> </a:t>
            </a:r>
            <a:r>
              <a:rPr lang="en-US" sz="1800" dirty="0" err="1"/>
              <a:t>distribuiranog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visoke</a:t>
            </a:r>
            <a:r>
              <a:rPr lang="en-US" sz="1800" dirty="0"/>
              <a:t> </a:t>
            </a:r>
            <a:r>
              <a:rPr lang="en-US" sz="1800" dirty="0" err="1"/>
              <a:t>dostupnosti</a:t>
            </a:r>
            <a:r>
              <a:rPr lang="en-US" sz="1800" dirty="0"/>
              <a:t>.</a:t>
            </a:r>
          </a:p>
          <a:p>
            <a:pPr marL="160655" indent="-147955" algn="just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800" dirty="0"/>
          </a:p>
          <a:p>
            <a:pPr marL="160655" indent="-147955" algn="just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800" b="1" dirty="0" err="1"/>
              <a:t>Ključne</a:t>
            </a:r>
            <a:r>
              <a:rPr lang="en-US" sz="1800" b="1" dirty="0"/>
              <a:t> </a:t>
            </a:r>
            <a:r>
              <a:rPr lang="en-US" sz="1800" b="1" dirty="0" err="1"/>
              <a:t>funkcionalnosti</a:t>
            </a:r>
            <a:r>
              <a:rPr lang="en-US" sz="1800" dirty="0"/>
              <a:t>: </a:t>
            </a:r>
            <a:r>
              <a:rPr lang="en-US" sz="1800" dirty="0" err="1"/>
              <a:t>NotificationService</a:t>
            </a:r>
            <a:r>
              <a:rPr lang="en-US" sz="1800" dirty="0"/>
              <a:t>, </a:t>
            </a:r>
            <a:r>
              <a:rPr lang="en-US" sz="1800" dirty="0" err="1"/>
              <a:t>HealthMonitoringService</a:t>
            </a:r>
            <a:r>
              <a:rPr lang="en-US" sz="1800" dirty="0"/>
              <a:t>, real-time </a:t>
            </a:r>
            <a:r>
              <a:rPr lang="en-US" sz="1800" dirty="0" err="1"/>
              <a:t>obaveštenja</a:t>
            </a:r>
            <a:r>
              <a:rPr lang="en-US" sz="1800" dirty="0"/>
              <a:t> </a:t>
            </a:r>
            <a:r>
              <a:rPr lang="en-US" sz="1800" dirty="0" err="1"/>
              <a:t>putem</a:t>
            </a:r>
            <a:r>
              <a:rPr lang="en-US" sz="1800" dirty="0"/>
              <a:t> </a:t>
            </a:r>
            <a:r>
              <a:rPr lang="en-US" sz="1800" dirty="0" err="1"/>
              <a:t>SignalR</a:t>
            </a:r>
            <a:r>
              <a:rPr lang="en-US" sz="1800" dirty="0"/>
              <a:t>-a, </a:t>
            </a:r>
            <a:r>
              <a:rPr lang="en-US" sz="1800" dirty="0" err="1"/>
              <a:t>efikasna</a:t>
            </a:r>
            <a:r>
              <a:rPr lang="en-US" sz="1800" dirty="0"/>
              <a:t> </a:t>
            </a:r>
            <a:r>
              <a:rPr lang="en-US" sz="1800" dirty="0" err="1"/>
              <a:t>registracija</a:t>
            </a:r>
            <a:r>
              <a:rPr lang="en-US" sz="1800" dirty="0"/>
              <a:t>, </a:t>
            </a:r>
            <a:r>
              <a:rPr lang="en-US" sz="1800" dirty="0" err="1"/>
              <a:t>logovanje</a:t>
            </a:r>
            <a:r>
              <a:rPr lang="en-US" sz="1800" dirty="0"/>
              <a:t>, </a:t>
            </a:r>
            <a:r>
              <a:rPr lang="en-US" sz="1800" dirty="0" err="1"/>
              <a:t>upravljanje</a:t>
            </a:r>
            <a:r>
              <a:rPr lang="en-US" sz="1800" dirty="0"/>
              <a:t> </a:t>
            </a:r>
            <a:r>
              <a:rPr lang="en-US" sz="1800" dirty="0" err="1"/>
              <a:t>temama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komentarima</a:t>
            </a:r>
            <a:r>
              <a:rPr lang="en-US" sz="1800" dirty="0"/>
              <a:t>.</a:t>
            </a:r>
          </a:p>
          <a:p>
            <a:pPr marL="160655" indent="-147955" algn="just">
              <a:lnSpc>
                <a:spcPts val="2280"/>
              </a:lnSpc>
              <a:spcBef>
                <a:spcPts val="9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endParaRPr lang="en-US" sz="1800" dirty="0"/>
          </a:p>
          <a:p>
            <a:pPr marL="160655" indent="-147955">
              <a:lnSpc>
                <a:spcPct val="100000"/>
              </a:lnSpc>
              <a:spcBef>
                <a:spcPts val="310"/>
              </a:spcBef>
              <a:buClr>
                <a:srgbClr val="7B7B7B"/>
              </a:buClr>
              <a:buFont typeface="Arial"/>
              <a:buChar char="•"/>
              <a:tabLst>
                <a:tab pos="160655" algn="l"/>
              </a:tabLst>
            </a:pPr>
            <a:r>
              <a:rPr lang="en-US" sz="1800" b="1" dirty="0" err="1"/>
              <a:t>Predlozi</a:t>
            </a:r>
            <a:r>
              <a:rPr lang="en-US" sz="1800" b="1" dirty="0"/>
              <a:t> za </a:t>
            </a:r>
            <a:r>
              <a:rPr lang="en-US" sz="1800" b="1" dirty="0" err="1"/>
              <a:t>unapređenje</a:t>
            </a:r>
            <a:r>
              <a:rPr lang="en-US" sz="1800" dirty="0"/>
              <a:t>: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sz="1800" b="1" dirty="0" err="1"/>
              <a:t>Sigurnost</a:t>
            </a:r>
            <a:r>
              <a:rPr lang="en-US" sz="1800" dirty="0"/>
              <a:t>: </a:t>
            </a:r>
            <a:r>
              <a:rPr lang="en-US" sz="1800" dirty="0" err="1"/>
              <a:t>Implementacija</a:t>
            </a:r>
            <a:r>
              <a:rPr lang="en-US" sz="1800" dirty="0"/>
              <a:t> 2FA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naprednih</a:t>
            </a:r>
            <a:r>
              <a:rPr lang="en-US" sz="1800" dirty="0"/>
              <a:t> </a:t>
            </a:r>
            <a:r>
              <a:rPr lang="en-US" sz="1800" dirty="0" err="1"/>
              <a:t>sigurnosnih</a:t>
            </a:r>
            <a:r>
              <a:rPr lang="en-US" sz="1800" dirty="0"/>
              <a:t> </a:t>
            </a:r>
            <a:r>
              <a:rPr lang="en-US" sz="1800" dirty="0" err="1"/>
              <a:t>protokola</a:t>
            </a:r>
            <a:r>
              <a:rPr lang="en-US" sz="1800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sz="1800" b="1" dirty="0" err="1"/>
              <a:t>Performanse</a:t>
            </a:r>
            <a:r>
              <a:rPr lang="en-US" sz="1800" dirty="0"/>
              <a:t>: </a:t>
            </a:r>
            <a:r>
              <a:rPr lang="en-US" sz="1800" dirty="0" err="1"/>
              <a:t>Optimizacija</a:t>
            </a:r>
            <a:r>
              <a:rPr lang="en-US" sz="1800" dirty="0"/>
              <a:t> </a:t>
            </a:r>
            <a:r>
              <a:rPr lang="en-US" sz="1800" dirty="0" err="1"/>
              <a:t>vremena</a:t>
            </a:r>
            <a:r>
              <a:rPr lang="en-US" sz="1800" dirty="0"/>
              <a:t> </a:t>
            </a:r>
            <a:r>
              <a:rPr lang="en-US" sz="1800" dirty="0" err="1"/>
              <a:t>odziva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efikasnije</a:t>
            </a:r>
            <a:r>
              <a:rPr lang="en-US" sz="1800" dirty="0"/>
              <a:t> </a:t>
            </a:r>
            <a:r>
              <a:rPr lang="en-US" sz="1800" dirty="0" err="1"/>
              <a:t>korišćenje</a:t>
            </a:r>
            <a:r>
              <a:rPr lang="en-US" sz="1800" dirty="0"/>
              <a:t> </a:t>
            </a:r>
            <a:r>
              <a:rPr lang="en-US" sz="1800" dirty="0" err="1"/>
              <a:t>resursa</a:t>
            </a:r>
            <a:r>
              <a:rPr lang="en-US" sz="1800"/>
              <a:t> (load </a:t>
            </a:r>
            <a:r>
              <a:rPr lang="en-US" sz="1800" dirty="0"/>
              <a:t>balancing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skaliranje</a:t>
            </a:r>
            <a:r>
              <a:rPr lang="en-US" sz="1800" dirty="0"/>
              <a:t> app.).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sz="1800" b="1" dirty="0" err="1"/>
              <a:t>Mobilna</a:t>
            </a:r>
            <a:r>
              <a:rPr lang="en-US" sz="1800" b="1" dirty="0"/>
              <a:t> </a:t>
            </a:r>
            <a:r>
              <a:rPr lang="en-US" sz="1800" b="1" dirty="0" err="1"/>
              <a:t>verzija</a:t>
            </a:r>
            <a:r>
              <a:rPr lang="en-US" sz="1800" dirty="0"/>
              <a:t>: </a:t>
            </a:r>
            <a:r>
              <a:rPr lang="en-US" sz="1800" dirty="0" err="1"/>
              <a:t>Razvoj</a:t>
            </a:r>
            <a:r>
              <a:rPr lang="en-US" sz="1800" dirty="0"/>
              <a:t> </a:t>
            </a:r>
            <a:r>
              <a:rPr lang="en-US" sz="1800" dirty="0" err="1"/>
              <a:t>mobilne</a:t>
            </a:r>
            <a:r>
              <a:rPr lang="en-US" sz="1800" dirty="0"/>
              <a:t> </a:t>
            </a:r>
            <a:r>
              <a:rPr lang="en-US" sz="1800" dirty="0" err="1"/>
              <a:t>aplikacije</a:t>
            </a:r>
            <a:r>
              <a:rPr lang="en-US" sz="1800" dirty="0"/>
              <a:t> za </a:t>
            </a:r>
            <a:r>
              <a:rPr lang="en-US" sz="1800" dirty="0" err="1"/>
              <a:t>veću</a:t>
            </a:r>
            <a:r>
              <a:rPr lang="en-US" sz="1800" dirty="0"/>
              <a:t> </a:t>
            </a:r>
            <a:r>
              <a:rPr lang="en-US" sz="1800" dirty="0" err="1"/>
              <a:t>dostupnost</a:t>
            </a:r>
            <a:r>
              <a:rPr lang="en-US" sz="1800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en-US" sz="1800" b="1" dirty="0" err="1"/>
              <a:t>Analitika</a:t>
            </a:r>
            <a:r>
              <a:rPr lang="en-US" sz="1800" dirty="0"/>
              <a:t>: </a:t>
            </a:r>
            <a:r>
              <a:rPr lang="en-US" sz="1800" dirty="0" err="1"/>
              <a:t>Uvođenje</a:t>
            </a:r>
            <a:r>
              <a:rPr lang="en-US" sz="1800" dirty="0"/>
              <a:t> alata za </a:t>
            </a:r>
            <a:r>
              <a:rPr lang="en-US" sz="1800" dirty="0" err="1"/>
              <a:t>analizu</a:t>
            </a:r>
            <a:r>
              <a:rPr lang="en-US" sz="1800" dirty="0"/>
              <a:t> </a:t>
            </a:r>
            <a:r>
              <a:rPr lang="en-US" sz="1800" dirty="0" err="1"/>
              <a:t>korisničkog</a:t>
            </a:r>
            <a:r>
              <a:rPr lang="en-US" sz="1800" dirty="0"/>
              <a:t> </a:t>
            </a:r>
            <a:r>
              <a:rPr lang="en-US" sz="1800" dirty="0" err="1"/>
              <a:t>ponašanja</a:t>
            </a:r>
            <a:r>
              <a:rPr lang="en-US" sz="1800" dirty="0"/>
              <a:t>.</a:t>
            </a:r>
          </a:p>
          <a:p>
            <a:pPr marL="395605" lvl="1" indent="-182245">
              <a:lnSpc>
                <a:spcPct val="100000"/>
              </a:lnSpc>
              <a:spcBef>
                <a:spcPts val="200"/>
              </a:spcBef>
              <a:buClr>
                <a:srgbClr val="7B7B7B"/>
              </a:buClr>
              <a:buFont typeface="Arial"/>
              <a:buChar char="•"/>
              <a:tabLst>
                <a:tab pos="395605" algn="l"/>
              </a:tabLst>
            </a:pPr>
            <a:r>
              <a:rPr lang="sr-Latn-RS" sz="1800" b="1" dirty="0" err="1"/>
              <a:t>Admin</a:t>
            </a:r>
            <a:r>
              <a:rPr lang="en-US" sz="1800" dirty="0"/>
              <a:t>: </a:t>
            </a:r>
            <a:r>
              <a:rPr lang="sr-Latn-RS" sz="1800" dirty="0"/>
              <a:t>Smeštanje svih </a:t>
            </a:r>
            <a:r>
              <a:rPr lang="sr-Latn-RS" sz="1800" dirty="0" err="1"/>
              <a:t>Admina</a:t>
            </a:r>
            <a:r>
              <a:rPr lang="sr-Latn-RS" sz="1800" dirty="0"/>
              <a:t> u poseban </a:t>
            </a:r>
            <a:r>
              <a:rPr lang="sr-Latn-RS" sz="1800" dirty="0" err="1"/>
              <a:t>Queue</a:t>
            </a:r>
            <a:r>
              <a:rPr lang="sr-Latn-RS" sz="1800" dirty="0"/>
              <a:t> u bazi podataka sa svim podacima i na taj </a:t>
            </a:r>
            <a:r>
              <a:rPr lang="sr-Latn-RS" sz="1800" dirty="0" err="1"/>
              <a:t>nacin</a:t>
            </a:r>
            <a:r>
              <a:rPr lang="sr-Latn-RS" sz="1800" dirty="0"/>
              <a:t> pristup.</a:t>
            </a:r>
            <a:endParaRPr sz="1800" spc="-2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2649764"/>
            <a:ext cx="121920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125" dirty="0" err="1">
                <a:solidFill>
                  <a:srgbClr val="FF0000"/>
                </a:solidFill>
              </a:rPr>
              <a:t>Kraj</a:t>
            </a:r>
            <a:br>
              <a:rPr lang="sr-Latn-RS" b="1" spc="-125" dirty="0">
                <a:solidFill>
                  <a:srgbClr val="FF0000"/>
                </a:solidFill>
              </a:rPr>
            </a:br>
            <a:r>
              <a:rPr lang="sr-Latn-RS" sz="2000" b="1" spc="-125" dirty="0">
                <a:solidFill>
                  <a:srgbClr val="FF0000"/>
                </a:solidFill>
              </a:rPr>
              <a:t>Hvala </a:t>
            </a:r>
            <a:r>
              <a:rPr lang="en-US" sz="2000" b="1" spc="-125" dirty="0" err="1">
                <a:solidFill>
                  <a:srgbClr val="FF0000"/>
                </a:solidFill>
              </a:rPr>
              <a:t>na</a:t>
            </a:r>
            <a:r>
              <a:rPr lang="en-US" sz="2000" b="1" spc="-125" dirty="0">
                <a:solidFill>
                  <a:srgbClr val="FF0000"/>
                </a:solidFill>
              </a:rPr>
              <a:t> pa</a:t>
            </a:r>
            <a:r>
              <a:rPr lang="sr-Latn-RS" sz="2000" b="1" spc="-125" dirty="0" err="1">
                <a:solidFill>
                  <a:srgbClr val="FF0000"/>
                </a:solidFill>
              </a:rPr>
              <a:t>žnji</a:t>
            </a:r>
            <a:r>
              <a:rPr lang="en-US" sz="2000" b="1" spc="-125" dirty="0">
                <a:solidFill>
                  <a:srgbClr val="FF0000"/>
                </a:solidFill>
              </a:rPr>
              <a:t>!</a:t>
            </a:r>
            <a:endParaRPr sz="2000" b="1" spc="-125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9114</TotalTime>
  <Words>1780</Words>
  <Application>Microsoft Office PowerPoint</Application>
  <PresentationFormat>Široki ekran</PresentationFormat>
  <Paragraphs>216</Paragraphs>
  <Slides>31</Slides>
  <Notes>3</Notes>
  <HiddenSlides>0</HiddenSlides>
  <MMClips>0</MMClips>
  <ScaleCrop>false</ScaleCrop>
  <HeadingPairs>
    <vt:vector size="6" baseType="variant">
      <vt:variant>
        <vt:lpstr>Korišćeni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Carlito</vt:lpstr>
      <vt:lpstr>Wingdings</vt:lpstr>
      <vt:lpstr>Office 2013 – 2022 tema</vt:lpstr>
      <vt:lpstr>Univerzitet u Novom Sadu Fakultet tehničkih nauka u Novom Sadu</vt:lpstr>
      <vt:lpstr>Sadržaj</vt:lpstr>
      <vt:lpstr>Uvod</vt:lpstr>
      <vt:lpstr>Korišćene tehnike i tehnologije</vt:lpstr>
      <vt:lpstr>Korišćene tehnike i tehnologije</vt:lpstr>
      <vt:lpstr>Korišćene tehnike i tehnologije</vt:lpstr>
      <vt:lpstr>Specifikacija sistema</vt:lpstr>
      <vt:lpstr>Specifikacija sistema</vt:lpstr>
      <vt:lpstr>Specifikacija sistema</vt:lpstr>
      <vt:lpstr>Prikaz implementiranog sistema</vt:lpstr>
      <vt:lpstr>Prikaz implementiranog sistema</vt:lpstr>
      <vt:lpstr>Prikaz implementiranog sistema</vt:lpstr>
      <vt:lpstr>Prikaz implementiranog sistema</vt:lpstr>
      <vt:lpstr>Prikaz implementiranog sistema</vt:lpstr>
      <vt:lpstr>Prikaz implementiranog sistema</vt:lpstr>
      <vt:lpstr>Prikaz implementiranog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Implementacija sistema</vt:lpstr>
      <vt:lpstr>PowerPoint prezentacija</vt:lpstr>
      <vt:lpstr>PowerPoint prezentacija</vt:lpstr>
      <vt:lpstr>Zaključak</vt:lpstr>
      <vt:lpstr>Kraj 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Radoslav Mastilovic</cp:lastModifiedBy>
  <cp:revision>72</cp:revision>
  <dcterms:created xsi:type="dcterms:W3CDTF">2024-09-01T10:54:53Z</dcterms:created>
  <dcterms:modified xsi:type="dcterms:W3CDTF">2024-09-10T14:39:07Z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2024-09-01T00:00:00Z</vt:filetime>
  </property>
  <property fmtid="{D5CDD505-2E9C-101B-9397-08002B2CF9AE}" pid="5" name="Producer">
    <vt:lpwstr>3-Heights(TM) PDF Security Shell 4.8.25.2 (http://www.pdf-tools.com)</vt:lpwstr>
  </property>
</Properties>
</file>